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notesMasterIdLst>
    <p:notesMasterId r:id="rId25"/>
  </p:notesMasterIdLst>
  <p:sldIdLst>
    <p:sldId id="2561" r:id="rId5"/>
    <p:sldId id="2563" r:id="rId6"/>
    <p:sldId id="2564" r:id="rId7"/>
    <p:sldId id="2565" r:id="rId8"/>
    <p:sldId id="2566" r:id="rId9"/>
    <p:sldId id="2567" r:id="rId10"/>
    <p:sldId id="2568" r:id="rId11"/>
    <p:sldId id="2569" r:id="rId12"/>
    <p:sldId id="2570" r:id="rId13"/>
    <p:sldId id="2571" r:id="rId14"/>
    <p:sldId id="2572" r:id="rId15"/>
    <p:sldId id="2573" r:id="rId16"/>
    <p:sldId id="2579" r:id="rId17"/>
    <p:sldId id="2586" r:id="rId18"/>
    <p:sldId id="2575" r:id="rId19"/>
    <p:sldId id="2587" r:id="rId20"/>
    <p:sldId id="2576" r:id="rId21"/>
    <p:sldId id="2577" r:id="rId22"/>
    <p:sldId id="2578" r:id="rId23"/>
    <p:sldId id="258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NumPy: Absolute Basics for Beginners" id="{73445265-09F7-4F19-B254-7B7E619AD65F}">
          <p14:sldIdLst>
            <p14:sldId id="2561"/>
          </p14:sldIdLst>
        </p14:section>
        <p14:section name="Introduction to NumPy" id="{0658F3F1-2D99-4A6B-83A4-08267C1CF1EB}">
          <p14:sldIdLst>
            <p14:sldId id="2563"/>
          </p14:sldIdLst>
        </p14:section>
        <p14:section name="Getting Started with NumPy" id="{7335AA1D-8BF1-42CD-A9D4-C9DBEAEE3276}">
          <p14:sldIdLst>
            <p14:sldId id="2564"/>
            <p14:sldId id="2565"/>
            <p14:sldId id="2566"/>
            <p14:sldId id="2567"/>
          </p14:sldIdLst>
        </p14:section>
        <p14:section name="Manipulating Arrays" id="{71D77C6C-6612-4AF1-9BDA-CCFDFEE1DE48}">
          <p14:sldIdLst>
            <p14:sldId id="2568"/>
            <p14:sldId id="2569"/>
            <p14:sldId id="2570"/>
            <p14:sldId id="2571"/>
          </p14:sldIdLst>
        </p14:section>
        <p14:section name="Advanced Array Operations" id="{9AD4B506-1C50-4D6A-A4DE-7ED99DDA8F21}">
          <p14:sldIdLst>
            <p14:sldId id="2572"/>
            <p14:sldId id="2573"/>
            <p14:sldId id="2579"/>
            <p14:sldId id="2586"/>
            <p14:sldId id="2575"/>
            <p14:sldId id="2587"/>
          </p14:sldIdLst>
        </p14:section>
        <p14:section name="Filtering and Masking" id="{DA943369-B4EF-4375-ADAF-354A266993D2}">
          <p14:sldIdLst>
            <p14:sldId id="2576"/>
            <p14:sldId id="2577"/>
            <p14:sldId id="2578"/>
            <p14:sldId id="258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87" autoAdjust="0"/>
    <p:restoredTop sz="83973"/>
  </p:normalViewPr>
  <p:slideViewPr>
    <p:cSldViewPr>
      <p:cViewPr varScale="1">
        <p:scale>
          <a:sx n="106" d="100"/>
          <a:sy n="106" d="100"/>
        </p:scale>
        <p:origin x="1440" y="168"/>
      </p:cViewPr>
      <p:guideLst/>
    </p:cSldViewPr>
  </p:slideViewPr>
  <p:notesTextViewPr>
    <p:cViewPr>
      <p:scale>
        <a:sx n="3" d="2"/>
        <a:sy n="3" d="2"/>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jpeg"/></Relationships>
</file>

<file path=ppt/diagrams/_rels/data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2.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2.jpeg"/></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CB1B28-37E0-41E6-AF49-9A1508491B04}" type="doc">
      <dgm:prSet loTypeId="urn:microsoft.com/office/officeart/2024/3/layout/verticalVisualTextBlock1" loCatId="Picture" qsTypeId="urn:microsoft.com/office/officeart/2005/8/quickstyle/simple4" qsCatId="simple" csTypeId="urn:microsoft.com/office/officeart/2005/8/colors/accent6_2" csCatId="accent6" phldr="1"/>
      <dgm:spPr/>
      <dgm:t>
        <a:bodyPr/>
        <a:lstStyle/>
        <a:p>
          <a:endParaRPr lang="en-US"/>
        </a:p>
      </dgm:t>
    </dgm:pt>
    <dgm:pt modelId="{5B9253D5-F143-41B3-8234-56763746A571}">
      <dgm:prSet/>
      <dgm:spPr/>
      <dgm:t>
        <a:bodyPr/>
        <a:lstStyle/>
        <a:p>
          <a:pPr>
            <a:lnSpc>
              <a:spcPct val="100000"/>
            </a:lnSpc>
            <a:defRPr b="1"/>
          </a:pPr>
          <a:r>
            <a:rPr lang="en-US"/>
            <a:t>Broadcasting Concept</a:t>
          </a:r>
        </a:p>
      </dgm:t>
    </dgm:pt>
    <dgm:pt modelId="{E5DC5CDC-A354-40DF-8424-4D052EA4294E}" type="parTrans" cxnId="{2A8B2683-5424-4A8D-AF99-AEC99E5DA158}">
      <dgm:prSet/>
      <dgm:spPr/>
      <dgm:t>
        <a:bodyPr/>
        <a:lstStyle/>
        <a:p>
          <a:endParaRPr lang="en-US"/>
        </a:p>
      </dgm:t>
    </dgm:pt>
    <dgm:pt modelId="{885523E9-579D-49CE-99C1-EB55AB2EDFB4}" type="sibTrans" cxnId="{2A8B2683-5424-4A8D-AF99-AEC99E5DA158}">
      <dgm:prSet/>
      <dgm:spPr/>
      <dgm:t>
        <a:bodyPr/>
        <a:lstStyle/>
        <a:p>
          <a:pPr>
            <a:lnSpc>
              <a:spcPct val="100000"/>
            </a:lnSpc>
            <a:defRPr b="1"/>
          </a:pPr>
          <a:endParaRPr lang="en-US"/>
        </a:p>
      </dgm:t>
    </dgm:pt>
    <dgm:pt modelId="{B06F50A1-A012-4EA3-A455-69951C09F29A}">
      <dgm:prSet/>
      <dgm:spPr/>
      <dgm:t>
        <a:bodyPr/>
        <a:lstStyle/>
        <a:p>
          <a:pPr>
            <a:lnSpc>
              <a:spcPct val="100000"/>
            </a:lnSpc>
          </a:pPr>
          <a:r>
            <a:rPr lang="en-US"/>
            <a:t>Broadcasting automatically expands smaller arrays to match larger ones for efficient element-wise operations.</a:t>
          </a:r>
        </a:p>
      </dgm:t>
    </dgm:pt>
    <dgm:pt modelId="{5D03F370-C309-4FFC-9893-BDE2BAE71CF0}" type="parTrans" cxnId="{CBF06111-ADF2-4246-A23E-3E77AF59E360}">
      <dgm:prSet/>
      <dgm:spPr/>
      <dgm:t>
        <a:bodyPr/>
        <a:lstStyle/>
        <a:p>
          <a:endParaRPr lang="en-US"/>
        </a:p>
      </dgm:t>
    </dgm:pt>
    <dgm:pt modelId="{4C65626D-2512-4EBD-872A-812B25F7C1B7}" type="sibTrans" cxnId="{CBF06111-ADF2-4246-A23E-3E77AF59E360}">
      <dgm:prSet/>
      <dgm:spPr/>
      <dgm:t>
        <a:bodyPr/>
        <a:lstStyle/>
        <a:p>
          <a:endParaRPr lang="en-US"/>
        </a:p>
      </dgm:t>
    </dgm:pt>
    <dgm:pt modelId="{D0E4CF52-E365-4910-8A2F-51084C8824BF}">
      <dgm:prSet/>
      <dgm:spPr/>
      <dgm:t>
        <a:bodyPr/>
        <a:lstStyle/>
        <a:p>
          <a:pPr>
            <a:lnSpc>
              <a:spcPct val="100000"/>
            </a:lnSpc>
            <a:defRPr b="1"/>
          </a:pPr>
          <a:r>
            <a:rPr lang="en-US"/>
            <a:t>Mathematical Operations</a:t>
          </a:r>
        </a:p>
      </dgm:t>
    </dgm:pt>
    <dgm:pt modelId="{3FF84F1B-85BA-4053-8F16-19174154AFCD}" type="parTrans" cxnId="{5DE5FE5E-F625-49B1-8099-A225BB1F4032}">
      <dgm:prSet/>
      <dgm:spPr/>
      <dgm:t>
        <a:bodyPr/>
        <a:lstStyle/>
        <a:p>
          <a:endParaRPr lang="en-US"/>
        </a:p>
      </dgm:t>
    </dgm:pt>
    <dgm:pt modelId="{B75013DA-1FD6-41AA-90DE-7282315523AD}" type="sibTrans" cxnId="{5DE5FE5E-F625-49B1-8099-A225BB1F4032}">
      <dgm:prSet/>
      <dgm:spPr/>
      <dgm:t>
        <a:bodyPr/>
        <a:lstStyle/>
        <a:p>
          <a:pPr>
            <a:lnSpc>
              <a:spcPct val="100000"/>
            </a:lnSpc>
            <a:defRPr b="1"/>
          </a:pPr>
          <a:endParaRPr lang="en-US"/>
        </a:p>
      </dgm:t>
    </dgm:pt>
    <dgm:pt modelId="{CD80E24C-DD29-4663-AD47-26CE13E3C524}">
      <dgm:prSet/>
      <dgm:spPr/>
      <dgm:t>
        <a:bodyPr/>
        <a:lstStyle/>
        <a:p>
          <a:pPr>
            <a:lnSpc>
              <a:spcPct val="100000"/>
            </a:lnSpc>
          </a:pPr>
          <a:r>
            <a:rPr lang="en-US"/>
            <a:t>NumPy functions like add, multiply, and divide perform arithmetic on arrays, supporting broadcasting.</a:t>
          </a:r>
        </a:p>
      </dgm:t>
    </dgm:pt>
    <dgm:pt modelId="{8B171684-4524-42F1-9147-F8E4A0D04726}" type="parTrans" cxnId="{CB2729F9-E739-448A-8D50-D82E4A89E9BD}">
      <dgm:prSet/>
      <dgm:spPr/>
      <dgm:t>
        <a:bodyPr/>
        <a:lstStyle/>
        <a:p>
          <a:endParaRPr lang="en-US"/>
        </a:p>
      </dgm:t>
    </dgm:pt>
    <dgm:pt modelId="{53F486AB-1A73-4BAA-852D-B197224ED8B7}" type="sibTrans" cxnId="{CB2729F9-E739-448A-8D50-D82E4A89E9BD}">
      <dgm:prSet/>
      <dgm:spPr/>
      <dgm:t>
        <a:bodyPr/>
        <a:lstStyle/>
        <a:p>
          <a:endParaRPr lang="en-US"/>
        </a:p>
      </dgm:t>
    </dgm:pt>
    <dgm:pt modelId="{8F6DFC27-2FC5-4D81-BF98-A449C0C64F4C}">
      <dgm:prSet/>
      <dgm:spPr/>
      <dgm:t>
        <a:bodyPr/>
        <a:lstStyle/>
        <a:p>
          <a:pPr>
            <a:lnSpc>
              <a:spcPct val="100000"/>
            </a:lnSpc>
            <a:defRPr b="1"/>
          </a:pPr>
          <a:r>
            <a:rPr lang="en-US"/>
            <a:t>Code Efficiency</a:t>
          </a:r>
        </a:p>
      </dgm:t>
    </dgm:pt>
    <dgm:pt modelId="{3071E9D0-160C-4900-B702-0E38D46FA885}" type="parTrans" cxnId="{A38399B2-0DD8-48C3-A39D-EB897130BDA0}">
      <dgm:prSet/>
      <dgm:spPr/>
      <dgm:t>
        <a:bodyPr/>
        <a:lstStyle/>
        <a:p>
          <a:endParaRPr lang="en-US"/>
        </a:p>
      </dgm:t>
    </dgm:pt>
    <dgm:pt modelId="{E28E39EE-773D-4E87-9524-771ED8E77B88}" type="sibTrans" cxnId="{A38399B2-0DD8-48C3-A39D-EB897130BDA0}">
      <dgm:prSet/>
      <dgm:spPr/>
      <dgm:t>
        <a:bodyPr/>
        <a:lstStyle/>
        <a:p>
          <a:endParaRPr lang="en-US"/>
        </a:p>
      </dgm:t>
    </dgm:pt>
    <dgm:pt modelId="{2D3E5566-A953-450A-90DF-A532FB402373}">
      <dgm:prSet/>
      <dgm:spPr/>
      <dgm:t>
        <a:bodyPr/>
        <a:lstStyle/>
        <a:p>
          <a:pPr>
            <a:lnSpc>
              <a:spcPct val="100000"/>
            </a:lnSpc>
          </a:pPr>
          <a:r>
            <a:rPr lang="en-US"/>
            <a:t>Broadcasting eliminates explicit loops, simplifying code and improving computational performance.</a:t>
          </a:r>
        </a:p>
      </dgm:t>
    </dgm:pt>
    <dgm:pt modelId="{AB60F93C-32BC-4A01-9724-C3033BAEF8CA}" type="parTrans" cxnId="{71C2AF08-356F-4303-8BA6-594B20A55A2F}">
      <dgm:prSet/>
      <dgm:spPr/>
      <dgm:t>
        <a:bodyPr/>
        <a:lstStyle/>
        <a:p>
          <a:endParaRPr lang="en-US"/>
        </a:p>
      </dgm:t>
    </dgm:pt>
    <dgm:pt modelId="{7E04219E-37BC-4DAD-9E91-48EEB133FBFD}" type="sibTrans" cxnId="{71C2AF08-356F-4303-8BA6-594B20A55A2F}">
      <dgm:prSet/>
      <dgm:spPr/>
      <dgm:t>
        <a:bodyPr/>
        <a:lstStyle/>
        <a:p>
          <a:endParaRPr lang="en-US"/>
        </a:p>
      </dgm:t>
    </dgm:pt>
    <dgm:pt modelId="{A28CC35E-6661-488A-9F9B-C18DE3AA435F}" type="pres">
      <dgm:prSet presAssocID="{7DCB1B28-37E0-41E6-AF49-9A1508491B04}" presName="Root" presStyleCnt="0">
        <dgm:presLayoutVars>
          <dgm:dir/>
          <dgm:resizeHandles val="exact"/>
        </dgm:presLayoutVars>
      </dgm:prSet>
      <dgm:spPr/>
    </dgm:pt>
    <dgm:pt modelId="{C6D77D61-4254-42E3-9DD5-199DA9C5CCC3}" type="pres">
      <dgm:prSet presAssocID="{5B9253D5-F143-41B3-8234-56763746A571}" presName="Composite" presStyleCnt="0"/>
      <dgm:spPr/>
    </dgm:pt>
    <dgm:pt modelId="{2F4CC3CB-750D-449D-B288-BEF2F032042C}" type="pres">
      <dgm:prSet presAssocID="{5B9253D5-F143-41B3-8234-56763746A571}"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1078" r="22419" b="-4"/>
          <a:stretch>
            <a:fillRect l="-25000" r="-25000"/>
          </a:stretch>
        </a:blipFill>
      </dgm:spPr>
      <dgm:extLst>
        <a:ext uri="{E40237B7-FDA0-4F09-8148-C483321AD2D9}">
          <dgm14:cNvPr xmlns:dgm14="http://schemas.microsoft.com/office/drawing/2010/diagram" id="0" name="" descr="Hi-Tech Data Center"/>
        </a:ext>
      </dgm:extLst>
    </dgm:pt>
    <dgm:pt modelId="{C486004A-B165-4D8E-A8A5-107EA12E48AE}" type="pres">
      <dgm:prSet presAssocID="{5B9253D5-F143-41B3-8234-56763746A571}" presName="Subtitle" presStyleLbl="revTx" presStyleIdx="0" presStyleCnt="6">
        <dgm:presLayoutVars>
          <dgm:chMax val="0"/>
          <dgm:bulletEnabled/>
        </dgm:presLayoutVars>
      </dgm:prSet>
      <dgm:spPr/>
    </dgm:pt>
    <dgm:pt modelId="{382A419D-730C-415C-A60B-AA4CB66B847B}" type="pres">
      <dgm:prSet presAssocID="{5B9253D5-F143-41B3-8234-56763746A571}" presName="Description" presStyleLbl="revTx" presStyleIdx="1" presStyleCnt="6">
        <dgm:presLayoutVars>
          <dgm:bulletEnabled/>
        </dgm:presLayoutVars>
      </dgm:prSet>
      <dgm:spPr/>
    </dgm:pt>
    <dgm:pt modelId="{904627A3-541F-4D01-99FE-8F2257836642}" type="pres">
      <dgm:prSet presAssocID="{885523E9-579D-49CE-99C1-EB55AB2EDFB4}" presName="sibTrans" presStyleLbl="sibTrans2D1" presStyleIdx="0" presStyleCnt="0"/>
      <dgm:spPr/>
    </dgm:pt>
    <dgm:pt modelId="{42E30B2B-7023-4602-9089-24D75647BAC0}" type="pres">
      <dgm:prSet presAssocID="{D0E4CF52-E365-4910-8A2F-51084C8824BF}" presName="Composite" presStyleCnt="0"/>
      <dgm:spPr/>
    </dgm:pt>
    <dgm:pt modelId="{FFCABB3C-A9FE-47D1-8B03-3F75A07446EF}" type="pres">
      <dgm:prSet presAssocID="{D0E4CF52-E365-4910-8A2F-51084C8824BF}"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 r="-10" b="-9"/>
          <a:stretch>
            <a:fillRect/>
          </a:stretch>
        </a:blipFill>
      </dgm:spPr>
      <dgm:extLst>
        <a:ext uri="{E40237B7-FDA0-4F09-8148-C483321AD2D9}">
          <dgm14:cNvPr xmlns:dgm14="http://schemas.microsoft.com/office/drawing/2010/diagram" id="0" name="" descr="Game"/>
        </a:ext>
      </dgm:extLst>
    </dgm:pt>
    <dgm:pt modelId="{F127E7D1-95A4-4E99-A4AC-93D9827A693A}" type="pres">
      <dgm:prSet presAssocID="{D0E4CF52-E365-4910-8A2F-51084C8824BF}" presName="Subtitle" presStyleLbl="revTx" presStyleIdx="2" presStyleCnt="6">
        <dgm:presLayoutVars>
          <dgm:chMax val="0"/>
          <dgm:bulletEnabled/>
        </dgm:presLayoutVars>
      </dgm:prSet>
      <dgm:spPr/>
    </dgm:pt>
    <dgm:pt modelId="{943D2423-8710-4A53-84AA-52848FF0FF9C}" type="pres">
      <dgm:prSet presAssocID="{D0E4CF52-E365-4910-8A2F-51084C8824BF}" presName="Description" presStyleLbl="revTx" presStyleIdx="3" presStyleCnt="6">
        <dgm:presLayoutVars>
          <dgm:bulletEnabled/>
        </dgm:presLayoutVars>
      </dgm:prSet>
      <dgm:spPr/>
    </dgm:pt>
    <dgm:pt modelId="{C8264B93-42EA-4556-AA30-5D1BE7A9836E}" type="pres">
      <dgm:prSet presAssocID="{B75013DA-1FD6-41AA-90DE-7282315523AD}" presName="sibTrans" presStyleLbl="sibTrans2D1" presStyleIdx="0" presStyleCnt="0"/>
      <dgm:spPr/>
    </dgm:pt>
    <dgm:pt modelId="{B0DD7F91-C644-4110-ACC2-3A5EB88E123D}" type="pres">
      <dgm:prSet presAssocID="{8F6DFC27-2FC5-4D81-BF98-A449C0C64F4C}" presName="Composite" presStyleCnt="0"/>
      <dgm:spPr/>
    </dgm:pt>
    <dgm:pt modelId="{43C37296-C5C8-4A70-94C9-0D7B211D7F25}" type="pres">
      <dgm:prSet presAssocID="{8F6DFC27-2FC5-4D81-BF98-A449C0C64F4C}"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35229" r="8523" b="4"/>
          <a:stretch>
            <a:fillRect l="-39000" r="-39000"/>
          </a:stretch>
        </a:blipFill>
      </dgm:spPr>
      <dgm:extLst>
        <a:ext uri="{E40237B7-FDA0-4F09-8148-C483321AD2D9}">
          <dgm14:cNvPr xmlns:dgm14="http://schemas.microsoft.com/office/drawing/2010/diagram" id="0" name="" descr="digital technology concept"/>
        </a:ext>
      </dgm:extLst>
    </dgm:pt>
    <dgm:pt modelId="{7C1FB4F7-FAFF-464F-AEFA-3206A95FB7D5}" type="pres">
      <dgm:prSet presAssocID="{8F6DFC27-2FC5-4D81-BF98-A449C0C64F4C}" presName="Subtitle" presStyleLbl="revTx" presStyleIdx="4" presStyleCnt="6">
        <dgm:presLayoutVars>
          <dgm:chMax val="0"/>
          <dgm:bulletEnabled/>
        </dgm:presLayoutVars>
      </dgm:prSet>
      <dgm:spPr/>
    </dgm:pt>
    <dgm:pt modelId="{FFF5B0B8-CCA1-4D96-88FD-4B5DE0E0E059}" type="pres">
      <dgm:prSet presAssocID="{8F6DFC27-2FC5-4D81-BF98-A449C0C64F4C}" presName="Description" presStyleLbl="revTx" presStyleIdx="5" presStyleCnt="6">
        <dgm:presLayoutVars>
          <dgm:bulletEnabled/>
        </dgm:presLayoutVars>
      </dgm:prSet>
      <dgm:spPr/>
    </dgm:pt>
  </dgm:ptLst>
  <dgm:cxnLst>
    <dgm:cxn modelId="{71C2AF08-356F-4303-8BA6-594B20A55A2F}" srcId="{8F6DFC27-2FC5-4D81-BF98-A449C0C64F4C}" destId="{2D3E5566-A953-450A-90DF-A532FB402373}" srcOrd="0" destOrd="0" parTransId="{AB60F93C-32BC-4A01-9724-C3033BAEF8CA}" sibTransId="{7E04219E-37BC-4DAD-9E91-48EEB133FBFD}"/>
    <dgm:cxn modelId="{9B60FE0B-328E-40AC-AAC7-4A6EDFAEAE4F}" type="presOf" srcId="{5B9253D5-F143-41B3-8234-56763746A571}" destId="{C486004A-B165-4D8E-A8A5-107EA12E48AE}" srcOrd="0" destOrd="0" presId="urn:microsoft.com/office/officeart/2024/3/layout/verticalVisualTextBlock1"/>
    <dgm:cxn modelId="{CBF06111-ADF2-4246-A23E-3E77AF59E360}" srcId="{5B9253D5-F143-41B3-8234-56763746A571}" destId="{B06F50A1-A012-4EA3-A455-69951C09F29A}" srcOrd="0" destOrd="0" parTransId="{5D03F370-C309-4FFC-9893-BDE2BAE71CF0}" sibTransId="{4C65626D-2512-4EBD-872A-812B25F7C1B7}"/>
    <dgm:cxn modelId="{B3F4E321-68AB-4D49-A1A6-E4F1F629A0D4}" type="presOf" srcId="{B75013DA-1FD6-41AA-90DE-7282315523AD}" destId="{C8264B93-42EA-4556-AA30-5D1BE7A9836E}" srcOrd="0" destOrd="0" presId="urn:microsoft.com/office/officeart/2024/3/layout/verticalVisualTextBlock1"/>
    <dgm:cxn modelId="{3556CC2E-D66C-430E-8F8B-D0D783487B8B}" type="presOf" srcId="{885523E9-579D-49CE-99C1-EB55AB2EDFB4}" destId="{904627A3-541F-4D01-99FE-8F2257836642}" srcOrd="0" destOrd="0" presId="urn:microsoft.com/office/officeart/2024/3/layout/verticalVisualTextBlock1"/>
    <dgm:cxn modelId="{D3D49A47-52AA-4B1E-9F9A-897629413DF7}" type="presOf" srcId="{8F6DFC27-2FC5-4D81-BF98-A449C0C64F4C}" destId="{7C1FB4F7-FAFF-464F-AEFA-3206A95FB7D5}" srcOrd="0" destOrd="0" presId="urn:microsoft.com/office/officeart/2024/3/layout/verticalVisualTextBlock1"/>
    <dgm:cxn modelId="{B69D724D-F566-4A10-9ACB-FF74B73A1E2D}" type="presOf" srcId="{D0E4CF52-E365-4910-8A2F-51084C8824BF}" destId="{F127E7D1-95A4-4E99-A4AC-93D9827A693A}" srcOrd="0" destOrd="0" presId="urn:microsoft.com/office/officeart/2024/3/layout/verticalVisualTextBlock1"/>
    <dgm:cxn modelId="{5DE5FE5E-F625-49B1-8099-A225BB1F4032}" srcId="{7DCB1B28-37E0-41E6-AF49-9A1508491B04}" destId="{D0E4CF52-E365-4910-8A2F-51084C8824BF}" srcOrd="1" destOrd="0" parTransId="{3FF84F1B-85BA-4053-8F16-19174154AFCD}" sibTransId="{B75013DA-1FD6-41AA-90DE-7282315523AD}"/>
    <dgm:cxn modelId="{2A8B2683-5424-4A8D-AF99-AEC99E5DA158}" srcId="{7DCB1B28-37E0-41E6-AF49-9A1508491B04}" destId="{5B9253D5-F143-41B3-8234-56763746A571}" srcOrd="0" destOrd="0" parTransId="{E5DC5CDC-A354-40DF-8424-4D052EA4294E}" sibTransId="{885523E9-579D-49CE-99C1-EB55AB2EDFB4}"/>
    <dgm:cxn modelId="{5B5A4793-99C3-4D4A-85FC-5D42C1ACD2E9}" type="presOf" srcId="{7DCB1B28-37E0-41E6-AF49-9A1508491B04}" destId="{A28CC35E-6661-488A-9F9B-C18DE3AA435F}" srcOrd="0" destOrd="0" presId="urn:microsoft.com/office/officeart/2024/3/layout/verticalVisualTextBlock1"/>
    <dgm:cxn modelId="{F099049F-3024-4F75-BD18-6C96C785335B}" type="presOf" srcId="{CD80E24C-DD29-4663-AD47-26CE13E3C524}" destId="{943D2423-8710-4A53-84AA-52848FF0FF9C}" srcOrd="0" destOrd="0" presId="urn:microsoft.com/office/officeart/2024/3/layout/verticalVisualTextBlock1"/>
    <dgm:cxn modelId="{FBFA35AE-0E43-4365-A961-1152B6F0CD6A}" type="presOf" srcId="{B06F50A1-A012-4EA3-A455-69951C09F29A}" destId="{382A419D-730C-415C-A60B-AA4CB66B847B}" srcOrd="0" destOrd="0" presId="urn:microsoft.com/office/officeart/2024/3/layout/verticalVisualTextBlock1"/>
    <dgm:cxn modelId="{A38399B2-0DD8-48C3-A39D-EB897130BDA0}" srcId="{7DCB1B28-37E0-41E6-AF49-9A1508491B04}" destId="{8F6DFC27-2FC5-4D81-BF98-A449C0C64F4C}" srcOrd="2" destOrd="0" parTransId="{3071E9D0-160C-4900-B702-0E38D46FA885}" sibTransId="{E28E39EE-773D-4E87-9524-771ED8E77B88}"/>
    <dgm:cxn modelId="{E14D3FD7-2341-49F0-8B4A-B800BDF0BDBB}" type="presOf" srcId="{2D3E5566-A953-450A-90DF-A532FB402373}" destId="{FFF5B0B8-CCA1-4D96-88FD-4B5DE0E0E059}" srcOrd="0" destOrd="0" presId="urn:microsoft.com/office/officeart/2024/3/layout/verticalVisualTextBlock1"/>
    <dgm:cxn modelId="{CB2729F9-E739-448A-8D50-D82E4A89E9BD}" srcId="{D0E4CF52-E365-4910-8A2F-51084C8824BF}" destId="{CD80E24C-DD29-4663-AD47-26CE13E3C524}" srcOrd="0" destOrd="0" parTransId="{8B171684-4524-42F1-9147-F8E4A0D04726}" sibTransId="{53F486AB-1A73-4BAA-852D-B197224ED8B7}"/>
    <dgm:cxn modelId="{20CADF8A-BAB8-4D76-9EF8-FA887108CE1C}" type="presParOf" srcId="{A28CC35E-6661-488A-9F9B-C18DE3AA435F}" destId="{C6D77D61-4254-42E3-9DD5-199DA9C5CCC3}" srcOrd="0" destOrd="0" presId="urn:microsoft.com/office/officeart/2024/3/layout/verticalVisualTextBlock1"/>
    <dgm:cxn modelId="{9348DA3B-ECC4-412F-B63F-FE92AE9EC1E8}" type="presParOf" srcId="{C6D77D61-4254-42E3-9DD5-199DA9C5CCC3}" destId="{2F4CC3CB-750D-449D-B288-BEF2F032042C}" srcOrd="0" destOrd="0" presId="urn:microsoft.com/office/officeart/2024/3/layout/verticalVisualTextBlock1"/>
    <dgm:cxn modelId="{2E4C2082-F50C-4A69-93DA-56F991C74B88}" type="presParOf" srcId="{C6D77D61-4254-42E3-9DD5-199DA9C5CCC3}" destId="{C486004A-B165-4D8E-A8A5-107EA12E48AE}" srcOrd="1" destOrd="0" presId="urn:microsoft.com/office/officeart/2024/3/layout/verticalVisualTextBlock1"/>
    <dgm:cxn modelId="{3D2DDD75-FF07-46A6-9FB9-60AFB7FB1BAE}" type="presParOf" srcId="{C6D77D61-4254-42E3-9DD5-199DA9C5CCC3}" destId="{382A419D-730C-415C-A60B-AA4CB66B847B}" srcOrd="2" destOrd="0" presId="urn:microsoft.com/office/officeart/2024/3/layout/verticalVisualTextBlock1"/>
    <dgm:cxn modelId="{ADB2A319-6C30-49C7-90A5-34E79ADA5848}" type="presParOf" srcId="{A28CC35E-6661-488A-9F9B-C18DE3AA435F}" destId="{904627A3-541F-4D01-99FE-8F2257836642}" srcOrd="1" destOrd="0" presId="urn:microsoft.com/office/officeart/2024/3/layout/verticalVisualTextBlock1"/>
    <dgm:cxn modelId="{1612650D-A390-4FA4-820F-A66F3CC06094}" type="presParOf" srcId="{A28CC35E-6661-488A-9F9B-C18DE3AA435F}" destId="{42E30B2B-7023-4602-9089-24D75647BAC0}" srcOrd="2" destOrd="0" presId="urn:microsoft.com/office/officeart/2024/3/layout/verticalVisualTextBlock1"/>
    <dgm:cxn modelId="{5720EEA2-A00F-4C3E-B0B7-53E3B6E975A7}" type="presParOf" srcId="{42E30B2B-7023-4602-9089-24D75647BAC0}" destId="{FFCABB3C-A9FE-47D1-8B03-3F75A07446EF}" srcOrd="0" destOrd="0" presId="urn:microsoft.com/office/officeart/2024/3/layout/verticalVisualTextBlock1"/>
    <dgm:cxn modelId="{2EAC611B-06F4-4CA0-8809-2F853255EB8E}" type="presParOf" srcId="{42E30B2B-7023-4602-9089-24D75647BAC0}" destId="{F127E7D1-95A4-4E99-A4AC-93D9827A693A}" srcOrd="1" destOrd="0" presId="urn:microsoft.com/office/officeart/2024/3/layout/verticalVisualTextBlock1"/>
    <dgm:cxn modelId="{6484E01E-2C0F-4164-AC36-5BAA857C4F24}" type="presParOf" srcId="{42E30B2B-7023-4602-9089-24D75647BAC0}" destId="{943D2423-8710-4A53-84AA-52848FF0FF9C}" srcOrd="2" destOrd="0" presId="urn:microsoft.com/office/officeart/2024/3/layout/verticalVisualTextBlock1"/>
    <dgm:cxn modelId="{3512CE0E-8CC6-47D2-A840-535998B97CAA}" type="presParOf" srcId="{A28CC35E-6661-488A-9F9B-C18DE3AA435F}" destId="{C8264B93-42EA-4556-AA30-5D1BE7A9836E}" srcOrd="3" destOrd="0" presId="urn:microsoft.com/office/officeart/2024/3/layout/verticalVisualTextBlock1"/>
    <dgm:cxn modelId="{9FD116E2-E8EE-4575-88AE-DE1EE4606D2C}" type="presParOf" srcId="{A28CC35E-6661-488A-9F9B-C18DE3AA435F}" destId="{B0DD7F91-C644-4110-ACC2-3A5EB88E123D}" srcOrd="4" destOrd="0" presId="urn:microsoft.com/office/officeart/2024/3/layout/verticalVisualTextBlock1"/>
    <dgm:cxn modelId="{CD2A6493-4740-405E-9E65-A9972B12AB35}" type="presParOf" srcId="{B0DD7F91-C644-4110-ACC2-3A5EB88E123D}" destId="{43C37296-C5C8-4A70-94C9-0D7B211D7F25}" srcOrd="0" destOrd="0" presId="urn:microsoft.com/office/officeart/2024/3/layout/verticalVisualTextBlock1"/>
    <dgm:cxn modelId="{38870B90-31E5-4D31-9512-7FD0DCE9C0E2}" type="presParOf" srcId="{B0DD7F91-C644-4110-ACC2-3A5EB88E123D}" destId="{7C1FB4F7-FAFF-464F-AEFA-3206A95FB7D5}" srcOrd="1" destOrd="0" presId="urn:microsoft.com/office/officeart/2024/3/layout/verticalVisualTextBlock1"/>
    <dgm:cxn modelId="{9630F7E3-5269-4DB8-A170-76BBF8130578}" type="presParOf" srcId="{B0DD7F91-C644-4110-ACC2-3A5EB88E123D}" destId="{FFF5B0B8-CCA1-4D96-88FD-4B5DE0E0E059}"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473D331-162E-4FD0-84A9-F15EFE4EB7C4}" type="doc">
      <dgm:prSet loTypeId="urn:microsoft.com/office/officeart/2024/3/layout/verticalVisualTextBlock1" loCatId="Picture" qsTypeId="urn:microsoft.com/office/officeart/2005/8/quickstyle/simple4" qsCatId="simple" csTypeId="urn:microsoft.com/office/officeart/2005/8/colors/accent5_2" csCatId="accent5" phldr="1"/>
      <dgm:spPr/>
      <dgm:t>
        <a:bodyPr/>
        <a:lstStyle/>
        <a:p>
          <a:endParaRPr lang="en-US"/>
        </a:p>
      </dgm:t>
    </dgm:pt>
    <dgm:pt modelId="{606DCFB7-7CC4-4792-9EDA-F0EFC843E816}">
      <dgm:prSet/>
      <dgm:spPr/>
      <dgm:t>
        <a:bodyPr/>
        <a:lstStyle/>
        <a:p>
          <a:pPr>
            <a:lnSpc>
              <a:spcPct val="100000"/>
            </a:lnSpc>
            <a:defRPr b="1"/>
          </a:pPr>
          <a:r>
            <a:rPr lang="en-US"/>
            <a:t>Creating Boolean Masks</a:t>
          </a:r>
        </a:p>
      </dgm:t>
    </dgm:pt>
    <dgm:pt modelId="{396F4CB1-76CD-4891-899C-F5FC1EF66F1F}" type="parTrans" cxnId="{9B53D320-0F2A-47F6-BEE1-2371484C9C72}">
      <dgm:prSet/>
      <dgm:spPr/>
      <dgm:t>
        <a:bodyPr/>
        <a:lstStyle/>
        <a:p>
          <a:endParaRPr lang="en-US"/>
        </a:p>
      </dgm:t>
    </dgm:pt>
    <dgm:pt modelId="{E965457B-CC3F-4D72-8214-1DECB0F923E8}" type="sibTrans" cxnId="{9B53D320-0F2A-47F6-BEE1-2371484C9C72}">
      <dgm:prSet/>
      <dgm:spPr/>
      <dgm:t>
        <a:bodyPr/>
        <a:lstStyle/>
        <a:p>
          <a:pPr>
            <a:lnSpc>
              <a:spcPct val="100000"/>
            </a:lnSpc>
            <a:defRPr b="1"/>
          </a:pPr>
          <a:endParaRPr lang="en-US"/>
        </a:p>
      </dgm:t>
    </dgm:pt>
    <dgm:pt modelId="{F93E3096-2898-4BE1-A828-D104E66DF5AB}">
      <dgm:prSet/>
      <dgm:spPr/>
      <dgm:t>
        <a:bodyPr/>
        <a:lstStyle/>
        <a:p>
          <a:pPr>
            <a:lnSpc>
              <a:spcPct val="100000"/>
            </a:lnSpc>
          </a:pPr>
          <a:r>
            <a:rPr lang="en-US"/>
            <a:t>Boolean masks indicate which elements satisfy specific conditions for filtering data efficiently.</a:t>
          </a:r>
        </a:p>
      </dgm:t>
    </dgm:pt>
    <dgm:pt modelId="{84A6489A-B265-42CB-A1C1-1618F7230831}" type="parTrans" cxnId="{E72A0F7B-148B-4742-9B7B-002ACE692343}">
      <dgm:prSet/>
      <dgm:spPr/>
      <dgm:t>
        <a:bodyPr/>
        <a:lstStyle/>
        <a:p>
          <a:endParaRPr lang="en-US"/>
        </a:p>
      </dgm:t>
    </dgm:pt>
    <dgm:pt modelId="{C1007482-2942-41D4-AF17-30296E0C8D48}" type="sibTrans" cxnId="{E72A0F7B-148B-4742-9B7B-002ACE692343}">
      <dgm:prSet/>
      <dgm:spPr/>
      <dgm:t>
        <a:bodyPr/>
        <a:lstStyle/>
        <a:p>
          <a:endParaRPr lang="en-US"/>
        </a:p>
      </dgm:t>
    </dgm:pt>
    <dgm:pt modelId="{6C73CDB3-3A1E-4D28-919A-6B1B8EDCAE82}">
      <dgm:prSet/>
      <dgm:spPr/>
      <dgm:t>
        <a:bodyPr/>
        <a:lstStyle/>
        <a:p>
          <a:pPr>
            <a:lnSpc>
              <a:spcPct val="100000"/>
            </a:lnSpc>
            <a:defRPr b="1"/>
          </a:pPr>
          <a:r>
            <a:rPr lang="en-US"/>
            <a:t>Filtering with Masks</a:t>
          </a:r>
        </a:p>
      </dgm:t>
    </dgm:pt>
    <dgm:pt modelId="{EA508782-8205-400A-8DA2-065786641E9E}" type="parTrans" cxnId="{5FC70525-13DC-4A45-8376-5F9E8A812EF9}">
      <dgm:prSet/>
      <dgm:spPr/>
      <dgm:t>
        <a:bodyPr/>
        <a:lstStyle/>
        <a:p>
          <a:endParaRPr lang="en-US"/>
        </a:p>
      </dgm:t>
    </dgm:pt>
    <dgm:pt modelId="{F862C7A0-7534-42CE-8F9B-A04D20F8F29D}" type="sibTrans" cxnId="{5FC70525-13DC-4A45-8376-5F9E8A812EF9}">
      <dgm:prSet/>
      <dgm:spPr/>
      <dgm:t>
        <a:bodyPr/>
        <a:lstStyle/>
        <a:p>
          <a:pPr>
            <a:lnSpc>
              <a:spcPct val="100000"/>
            </a:lnSpc>
            <a:defRPr b="1"/>
          </a:pPr>
          <a:endParaRPr lang="en-US"/>
        </a:p>
      </dgm:t>
    </dgm:pt>
    <dgm:pt modelId="{56344316-3844-492B-A877-23EB3E2E81FD}">
      <dgm:prSet/>
      <dgm:spPr/>
      <dgm:t>
        <a:bodyPr/>
        <a:lstStyle/>
        <a:p>
          <a:pPr>
            <a:lnSpc>
              <a:spcPct val="100000"/>
            </a:lnSpc>
          </a:pPr>
          <a:r>
            <a:rPr lang="en-US"/>
            <a:t>Masks enable extraction of subsets by filtering original arrays based on conditions like even numbers.</a:t>
          </a:r>
        </a:p>
      </dgm:t>
    </dgm:pt>
    <dgm:pt modelId="{CD528573-6335-42A1-B1E3-D1AD0D2591DC}" type="parTrans" cxnId="{1E441165-7FA4-4671-A492-0C4954FCB993}">
      <dgm:prSet/>
      <dgm:spPr/>
      <dgm:t>
        <a:bodyPr/>
        <a:lstStyle/>
        <a:p>
          <a:endParaRPr lang="en-US"/>
        </a:p>
      </dgm:t>
    </dgm:pt>
    <dgm:pt modelId="{CAD1C66C-7AB3-4C83-AB40-98BBC5E6AEBC}" type="sibTrans" cxnId="{1E441165-7FA4-4671-A492-0C4954FCB993}">
      <dgm:prSet/>
      <dgm:spPr/>
      <dgm:t>
        <a:bodyPr/>
        <a:lstStyle/>
        <a:p>
          <a:endParaRPr lang="en-US"/>
        </a:p>
      </dgm:t>
    </dgm:pt>
    <dgm:pt modelId="{6AF625E3-BBB9-4D90-B53B-AE570EF178B4}">
      <dgm:prSet/>
      <dgm:spPr/>
      <dgm:t>
        <a:bodyPr/>
        <a:lstStyle/>
        <a:p>
          <a:pPr>
            <a:lnSpc>
              <a:spcPct val="100000"/>
            </a:lnSpc>
            <a:defRPr b="1"/>
          </a:pPr>
          <a:r>
            <a:rPr lang="en-US"/>
            <a:t>Benefits of Masking</a:t>
          </a:r>
        </a:p>
      </dgm:t>
    </dgm:pt>
    <dgm:pt modelId="{628E6017-AF91-4519-BE07-B30C93A39571}" type="parTrans" cxnId="{0694E7D8-4AF5-430D-842D-F35B31DF6A96}">
      <dgm:prSet/>
      <dgm:spPr/>
      <dgm:t>
        <a:bodyPr/>
        <a:lstStyle/>
        <a:p>
          <a:endParaRPr lang="en-US"/>
        </a:p>
      </dgm:t>
    </dgm:pt>
    <dgm:pt modelId="{474509C7-D012-4B60-85C3-C03257467983}" type="sibTrans" cxnId="{0694E7D8-4AF5-430D-842D-F35B31DF6A96}">
      <dgm:prSet/>
      <dgm:spPr/>
      <dgm:t>
        <a:bodyPr/>
        <a:lstStyle/>
        <a:p>
          <a:endParaRPr lang="en-US"/>
        </a:p>
      </dgm:t>
    </dgm:pt>
    <dgm:pt modelId="{F28E0949-4C45-47DA-94EF-5C0A7D788C03}">
      <dgm:prSet/>
      <dgm:spPr/>
      <dgm:t>
        <a:bodyPr/>
        <a:lstStyle/>
        <a:p>
          <a:pPr>
            <a:lnSpc>
              <a:spcPct val="100000"/>
            </a:lnSpc>
          </a:pPr>
          <a:r>
            <a:rPr lang="en-US"/>
            <a:t>Masking enhances data manipulation flexibility and power within numerical computing libraries like NumPy.</a:t>
          </a:r>
        </a:p>
      </dgm:t>
    </dgm:pt>
    <dgm:pt modelId="{A586959D-6D1C-4106-A3E0-685C88B77A65}" type="parTrans" cxnId="{D2DF6F77-F821-44A9-829F-06FE1739E5F2}">
      <dgm:prSet/>
      <dgm:spPr/>
      <dgm:t>
        <a:bodyPr/>
        <a:lstStyle/>
        <a:p>
          <a:endParaRPr lang="en-US"/>
        </a:p>
      </dgm:t>
    </dgm:pt>
    <dgm:pt modelId="{E8057305-0580-4A34-B110-51F7405B0168}" type="sibTrans" cxnId="{D2DF6F77-F821-44A9-829F-06FE1739E5F2}">
      <dgm:prSet/>
      <dgm:spPr/>
      <dgm:t>
        <a:bodyPr/>
        <a:lstStyle/>
        <a:p>
          <a:endParaRPr lang="en-US"/>
        </a:p>
      </dgm:t>
    </dgm:pt>
    <dgm:pt modelId="{28D2F7A8-F277-41A9-B633-B1914F1C8EA6}" type="pres">
      <dgm:prSet presAssocID="{4473D331-162E-4FD0-84A9-F15EFE4EB7C4}" presName="Root" presStyleCnt="0">
        <dgm:presLayoutVars>
          <dgm:dir/>
          <dgm:resizeHandles val="exact"/>
        </dgm:presLayoutVars>
      </dgm:prSet>
      <dgm:spPr/>
    </dgm:pt>
    <dgm:pt modelId="{68BC38B2-BC75-45AC-AC4C-948CBF63DD82}" type="pres">
      <dgm:prSet presAssocID="{606DCFB7-7CC4-4792-9EDA-F0EFC843E816}" presName="Composite" presStyleCnt="0"/>
      <dgm:spPr/>
    </dgm:pt>
    <dgm:pt modelId="{19A9A673-C95A-42C4-B699-433664516D5E}" type="pres">
      <dgm:prSet presAssocID="{606DCFB7-7CC4-4792-9EDA-F0EFC843E816}"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6198" r="17299" b="-4"/>
          <a:stretch>
            <a:fillRect l="-25000" r="-25000"/>
          </a:stretch>
        </a:blipFill>
      </dgm:spPr>
      <dgm:extLst>
        <a:ext uri="{E40237B7-FDA0-4F09-8148-C483321AD2D9}">
          <dgm14:cNvPr xmlns:dgm14="http://schemas.microsoft.com/office/drawing/2010/diagram" id="0" name="" descr="Data center and server racks"/>
        </a:ext>
      </dgm:extLst>
    </dgm:pt>
    <dgm:pt modelId="{EBFC62B2-1C52-49C7-965C-57E3225390A8}" type="pres">
      <dgm:prSet presAssocID="{606DCFB7-7CC4-4792-9EDA-F0EFC843E816}" presName="Subtitle" presStyleLbl="revTx" presStyleIdx="0" presStyleCnt="6">
        <dgm:presLayoutVars>
          <dgm:chMax val="0"/>
          <dgm:bulletEnabled/>
        </dgm:presLayoutVars>
      </dgm:prSet>
      <dgm:spPr/>
    </dgm:pt>
    <dgm:pt modelId="{D31730DB-30E6-4CE5-B340-1904562898A7}" type="pres">
      <dgm:prSet presAssocID="{606DCFB7-7CC4-4792-9EDA-F0EFC843E816}" presName="Description" presStyleLbl="revTx" presStyleIdx="1" presStyleCnt="6">
        <dgm:presLayoutVars>
          <dgm:bulletEnabled/>
        </dgm:presLayoutVars>
      </dgm:prSet>
      <dgm:spPr/>
    </dgm:pt>
    <dgm:pt modelId="{D9C1144C-AFF4-42C7-B822-568965A418CE}" type="pres">
      <dgm:prSet presAssocID="{E965457B-CC3F-4D72-8214-1DECB0F923E8}" presName="sibTrans" presStyleLbl="sibTrans2D1" presStyleIdx="0" presStyleCnt="0"/>
      <dgm:spPr/>
    </dgm:pt>
    <dgm:pt modelId="{036BF354-6D38-491E-9AE7-B41002AA7AB4}" type="pres">
      <dgm:prSet presAssocID="{6C73CDB3-3A1E-4D28-919A-6B1B8EDCAE82}" presName="Composite" presStyleCnt="0"/>
      <dgm:spPr/>
    </dgm:pt>
    <dgm:pt modelId="{50030E6F-88D3-4362-9CC3-E4B405B35BB3}" type="pres">
      <dgm:prSet presAssocID="{6C73CDB3-3A1E-4D28-919A-6B1B8EDCAE82}"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6064" r="8935" b="-1"/>
          <a:stretch>
            <a:fillRect l="-17000" r="-17000"/>
          </a:stretch>
        </a:blipFill>
      </dgm:spPr>
      <dgm:extLst>
        <a:ext uri="{E40237B7-FDA0-4F09-8148-C483321AD2D9}">
          <dgm14:cNvPr xmlns:dgm14="http://schemas.microsoft.com/office/drawing/2010/diagram" id="0" name="" descr="An abstract blue pattern with numbers"/>
        </a:ext>
      </dgm:extLst>
    </dgm:pt>
    <dgm:pt modelId="{52A22BA8-160E-440D-91B0-30606428E610}" type="pres">
      <dgm:prSet presAssocID="{6C73CDB3-3A1E-4D28-919A-6B1B8EDCAE82}" presName="Subtitle" presStyleLbl="revTx" presStyleIdx="2" presStyleCnt="6">
        <dgm:presLayoutVars>
          <dgm:chMax val="0"/>
          <dgm:bulletEnabled/>
        </dgm:presLayoutVars>
      </dgm:prSet>
      <dgm:spPr/>
    </dgm:pt>
    <dgm:pt modelId="{D077AFAD-42C5-456E-896C-09ADD690CEC5}" type="pres">
      <dgm:prSet presAssocID="{6C73CDB3-3A1E-4D28-919A-6B1B8EDCAE82}" presName="Description" presStyleLbl="revTx" presStyleIdx="3" presStyleCnt="6">
        <dgm:presLayoutVars>
          <dgm:bulletEnabled/>
        </dgm:presLayoutVars>
      </dgm:prSet>
      <dgm:spPr/>
    </dgm:pt>
    <dgm:pt modelId="{C58CE2A2-2EF7-443B-A7CB-1C07B8E4358B}" type="pres">
      <dgm:prSet presAssocID="{F862C7A0-7534-42CE-8F9B-A04D20F8F29D}" presName="sibTrans" presStyleLbl="sibTrans2D1" presStyleIdx="0" presStyleCnt="0"/>
      <dgm:spPr/>
    </dgm:pt>
    <dgm:pt modelId="{4B146F12-463D-48FC-9985-416D87908831}" type="pres">
      <dgm:prSet presAssocID="{6AF625E3-BBB9-4D90-B53B-AE570EF178B4}" presName="Composite" presStyleCnt="0"/>
      <dgm:spPr/>
    </dgm:pt>
    <dgm:pt modelId="{C4889345-3532-4A50-9ED0-10C8ECD15C74}" type="pres">
      <dgm:prSet presAssocID="{6AF625E3-BBB9-4D90-B53B-AE570EF178B4}"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3720" r="19529" b="-2"/>
          <a:stretch>
            <a:fillRect l="-25000" r="-25000"/>
          </a:stretch>
        </a:blipFill>
      </dgm:spPr>
      <dgm:extLst>
        <a:ext uri="{E40237B7-FDA0-4F09-8148-C483321AD2D9}">
          <dgm14:cNvPr xmlns:dgm14="http://schemas.microsoft.com/office/drawing/2010/diagram" id="0" name="" descr="Abstract color image depicting a large group of sticks in water with red beads on the end, creating an abstract reflection image. Room for copy space."/>
        </a:ext>
      </dgm:extLst>
    </dgm:pt>
    <dgm:pt modelId="{1BB7C35A-A2A9-4DAE-9C38-52010A7A30D9}" type="pres">
      <dgm:prSet presAssocID="{6AF625E3-BBB9-4D90-B53B-AE570EF178B4}" presName="Subtitle" presStyleLbl="revTx" presStyleIdx="4" presStyleCnt="6">
        <dgm:presLayoutVars>
          <dgm:chMax val="0"/>
          <dgm:bulletEnabled/>
        </dgm:presLayoutVars>
      </dgm:prSet>
      <dgm:spPr/>
    </dgm:pt>
    <dgm:pt modelId="{D885D9CF-A438-4B80-9E3B-97B88686FC0D}" type="pres">
      <dgm:prSet presAssocID="{6AF625E3-BBB9-4D90-B53B-AE570EF178B4}" presName="Description" presStyleLbl="revTx" presStyleIdx="5" presStyleCnt="6">
        <dgm:presLayoutVars>
          <dgm:bulletEnabled/>
        </dgm:presLayoutVars>
      </dgm:prSet>
      <dgm:spPr/>
    </dgm:pt>
  </dgm:ptLst>
  <dgm:cxnLst>
    <dgm:cxn modelId="{D48DBF0A-35C8-493B-9E32-13B5F3175628}" type="presOf" srcId="{6AF625E3-BBB9-4D90-B53B-AE570EF178B4}" destId="{1BB7C35A-A2A9-4DAE-9C38-52010A7A30D9}" srcOrd="0" destOrd="0" presId="urn:microsoft.com/office/officeart/2024/3/layout/verticalVisualTextBlock1"/>
    <dgm:cxn modelId="{9B53D320-0F2A-47F6-BEE1-2371484C9C72}" srcId="{4473D331-162E-4FD0-84A9-F15EFE4EB7C4}" destId="{606DCFB7-7CC4-4792-9EDA-F0EFC843E816}" srcOrd="0" destOrd="0" parTransId="{396F4CB1-76CD-4891-899C-F5FC1EF66F1F}" sibTransId="{E965457B-CC3F-4D72-8214-1DECB0F923E8}"/>
    <dgm:cxn modelId="{AD099221-6DCB-4311-AF02-AD035ACF2191}" type="presOf" srcId="{F93E3096-2898-4BE1-A828-D104E66DF5AB}" destId="{D31730DB-30E6-4CE5-B340-1904562898A7}" srcOrd="0" destOrd="0" presId="urn:microsoft.com/office/officeart/2024/3/layout/verticalVisualTextBlock1"/>
    <dgm:cxn modelId="{5FC70525-13DC-4A45-8376-5F9E8A812EF9}" srcId="{4473D331-162E-4FD0-84A9-F15EFE4EB7C4}" destId="{6C73CDB3-3A1E-4D28-919A-6B1B8EDCAE82}" srcOrd="1" destOrd="0" parTransId="{EA508782-8205-400A-8DA2-065786641E9E}" sibTransId="{F862C7A0-7534-42CE-8F9B-A04D20F8F29D}"/>
    <dgm:cxn modelId="{5B668831-B978-43E5-87A9-FDF30F75CF86}" type="presOf" srcId="{4473D331-162E-4FD0-84A9-F15EFE4EB7C4}" destId="{28D2F7A8-F277-41A9-B633-B1914F1C8EA6}" srcOrd="0" destOrd="0" presId="urn:microsoft.com/office/officeart/2024/3/layout/verticalVisualTextBlock1"/>
    <dgm:cxn modelId="{54482233-C5A5-4C78-A74F-07F231F8FF0A}" type="presOf" srcId="{E965457B-CC3F-4D72-8214-1DECB0F923E8}" destId="{D9C1144C-AFF4-42C7-B822-568965A418CE}" srcOrd="0" destOrd="0" presId="urn:microsoft.com/office/officeart/2024/3/layout/verticalVisualTextBlock1"/>
    <dgm:cxn modelId="{1E441165-7FA4-4671-A492-0C4954FCB993}" srcId="{6C73CDB3-3A1E-4D28-919A-6B1B8EDCAE82}" destId="{56344316-3844-492B-A877-23EB3E2E81FD}" srcOrd="0" destOrd="0" parTransId="{CD528573-6335-42A1-B1E3-D1AD0D2591DC}" sibTransId="{CAD1C66C-7AB3-4C83-AB40-98BBC5E6AEBC}"/>
    <dgm:cxn modelId="{D2DF6F77-F821-44A9-829F-06FE1739E5F2}" srcId="{6AF625E3-BBB9-4D90-B53B-AE570EF178B4}" destId="{F28E0949-4C45-47DA-94EF-5C0A7D788C03}" srcOrd="0" destOrd="0" parTransId="{A586959D-6D1C-4106-A3E0-685C88B77A65}" sibTransId="{E8057305-0580-4A34-B110-51F7405B0168}"/>
    <dgm:cxn modelId="{EC4AF07A-C4BA-4B83-AD37-49C84C4DB965}" type="presOf" srcId="{F862C7A0-7534-42CE-8F9B-A04D20F8F29D}" destId="{C58CE2A2-2EF7-443B-A7CB-1C07B8E4358B}" srcOrd="0" destOrd="0" presId="urn:microsoft.com/office/officeart/2024/3/layout/verticalVisualTextBlock1"/>
    <dgm:cxn modelId="{E72A0F7B-148B-4742-9B7B-002ACE692343}" srcId="{606DCFB7-7CC4-4792-9EDA-F0EFC843E816}" destId="{F93E3096-2898-4BE1-A828-D104E66DF5AB}" srcOrd="0" destOrd="0" parTransId="{84A6489A-B265-42CB-A1C1-1618F7230831}" sibTransId="{C1007482-2942-41D4-AF17-30296E0C8D48}"/>
    <dgm:cxn modelId="{D77D3D7B-1E1D-4FF9-A457-07193A445CC5}" type="presOf" srcId="{F28E0949-4C45-47DA-94EF-5C0A7D788C03}" destId="{D885D9CF-A438-4B80-9E3B-97B88686FC0D}" srcOrd="0" destOrd="0" presId="urn:microsoft.com/office/officeart/2024/3/layout/verticalVisualTextBlock1"/>
    <dgm:cxn modelId="{99457A7B-38AD-4C15-BBB1-A068D4A08AD1}" type="presOf" srcId="{6C73CDB3-3A1E-4D28-919A-6B1B8EDCAE82}" destId="{52A22BA8-160E-440D-91B0-30606428E610}" srcOrd="0" destOrd="0" presId="urn:microsoft.com/office/officeart/2024/3/layout/verticalVisualTextBlock1"/>
    <dgm:cxn modelId="{6532607E-2D72-4AB3-97BD-C30D46B76F4C}" type="presOf" srcId="{56344316-3844-492B-A877-23EB3E2E81FD}" destId="{D077AFAD-42C5-456E-896C-09ADD690CEC5}" srcOrd="0" destOrd="0" presId="urn:microsoft.com/office/officeart/2024/3/layout/verticalVisualTextBlock1"/>
    <dgm:cxn modelId="{EEDD8385-0C0E-4CF3-8807-29DF2E5174C8}" type="presOf" srcId="{606DCFB7-7CC4-4792-9EDA-F0EFC843E816}" destId="{EBFC62B2-1C52-49C7-965C-57E3225390A8}" srcOrd="0" destOrd="0" presId="urn:microsoft.com/office/officeart/2024/3/layout/verticalVisualTextBlock1"/>
    <dgm:cxn modelId="{0694E7D8-4AF5-430D-842D-F35B31DF6A96}" srcId="{4473D331-162E-4FD0-84A9-F15EFE4EB7C4}" destId="{6AF625E3-BBB9-4D90-B53B-AE570EF178B4}" srcOrd="2" destOrd="0" parTransId="{628E6017-AF91-4519-BE07-B30C93A39571}" sibTransId="{474509C7-D012-4B60-85C3-C03257467983}"/>
    <dgm:cxn modelId="{83418A2D-0FBD-44FB-B8BC-62247698B82C}" type="presParOf" srcId="{28D2F7A8-F277-41A9-B633-B1914F1C8EA6}" destId="{68BC38B2-BC75-45AC-AC4C-948CBF63DD82}" srcOrd="0" destOrd="0" presId="urn:microsoft.com/office/officeart/2024/3/layout/verticalVisualTextBlock1"/>
    <dgm:cxn modelId="{A593A2D1-B818-486E-AE87-30CCFDECF4BF}" type="presParOf" srcId="{68BC38B2-BC75-45AC-AC4C-948CBF63DD82}" destId="{19A9A673-C95A-42C4-B699-433664516D5E}" srcOrd="0" destOrd="0" presId="urn:microsoft.com/office/officeart/2024/3/layout/verticalVisualTextBlock1"/>
    <dgm:cxn modelId="{7E9DE188-0690-4850-8364-7D3D7716AA66}" type="presParOf" srcId="{68BC38B2-BC75-45AC-AC4C-948CBF63DD82}" destId="{EBFC62B2-1C52-49C7-965C-57E3225390A8}" srcOrd="1" destOrd="0" presId="urn:microsoft.com/office/officeart/2024/3/layout/verticalVisualTextBlock1"/>
    <dgm:cxn modelId="{75FB961B-0FA3-4F29-9DF5-F4CEE411A0B4}" type="presParOf" srcId="{68BC38B2-BC75-45AC-AC4C-948CBF63DD82}" destId="{D31730DB-30E6-4CE5-B340-1904562898A7}" srcOrd="2" destOrd="0" presId="urn:microsoft.com/office/officeart/2024/3/layout/verticalVisualTextBlock1"/>
    <dgm:cxn modelId="{BBC4ED5D-60DF-4062-84E5-D457F297ACFA}" type="presParOf" srcId="{28D2F7A8-F277-41A9-B633-B1914F1C8EA6}" destId="{D9C1144C-AFF4-42C7-B822-568965A418CE}" srcOrd="1" destOrd="0" presId="urn:microsoft.com/office/officeart/2024/3/layout/verticalVisualTextBlock1"/>
    <dgm:cxn modelId="{276B074C-A4B5-451E-B629-4D11F260BA85}" type="presParOf" srcId="{28D2F7A8-F277-41A9-B633-B1914F1C8EA6}" destId="{036BF354-6D38-491E-9AE7-B41002AA7AB4}" srcOrd="2" destOrd="0" presId="urn:microsoft.com/office/officeart/2024/3/layout/verticalVisualTextBlock1"/>
    <dgm:cxn modelId="{79D6F0D8-903A-49E8-9DC9-AA3E18B08DD0}" type="presParOf" srcId="{036BF354-6D38-491E-9AE7-B41002AA7AB4}" destId="{50030E6F-88D3-4362-9CC3-E4B405B35BB3}" srcOrd="0" destOrd="0" presId="urn:microsoft.com/office/officeart/2024/3/layout/verticalVisualTextBlock1"/>
    <dgm:cxn modelId="{22A9EF95-7EBF-4A3D-B268-53A9CD6625C7}" type="presParOf" srcId="{036BF354-6D38-491E-9AE7-B41002AA7AB4}" destId="{52A22BA8-160E-440D-91B0-30606428E610}" srcOrd="1" destOrd="0" presId="urn:microsoft.com/office/officeart/2024/3/layout/verticalVisualTextBlock1"/>
    <dgm:cxn modelId="{99978472-53DD-454B-B4F3-5088F85EEEC6}" type="presParOf" srcId="{036BF354-6D38-491E-9AE7-B41002AA7AB4}" destId="{D077AFAD-42C5-456E-896C-09ADD690CEC5}" srcOrd="2" destOrd="0" presId="urn:microsoft.com/office/officeart/2024/3/layout/verticalVisualTextBlock1"/>
    <dgm:cxn modelId="{5698E939-7DE3-4312-BD37-C8C7E86EB170}" type="presParOf" srcId="{28D2F7A8-F277-41A9-B633-B1914F1C8EA6}" destId="{C58CE2A2-2EF7-443B-A7CB-1C07B8E4358B}" srcOrd="3" destOrd="0" presId="urn:microsoft.com/office/officeart/2024/3/layout/verticalVisualTextBlock1"/>
    <dgm:cxn modelId="{9AD75D57-6FB2-4DB1-B41B-7E9F20194718}" type="presParOf" srcId="{28D2F7A8-F277-41A9-B633-B1914F1C8EA6}" destId="{4B146F12-463D-48FC-9985-416D87908831}" srcOrd="4" destOrd="0" presId="urn:microsoft.com/office/officeart/2024/3/layout/verticalVisualTextBlock1"/>
    <dgm:cxn modelId="{CC0097B2-5D6E-4C89-8E29-17CF3E4CDDE8}" type="presParOf" srcId="{4B146F12-463D-48FC-9985-416D87908831}" destId="{C4889345-3532-4A50-9ED0-10C8ECD15C74}" srcOrd="0" destOrd="0" presId="urn:microsoft.com/office/officeart/2024/3/layout/verticalVisualTextBlock1"/>
    <dgm:cxn modelId="{914A23D5-5E49-40B7-85F1-A1C5310D05D0}" type="presParOf" srcId="{4B146F12-463D-48FC-9985-416D87908831}" destId="{1BB7C35A-A2A9-4DAE-9C38-52010A7A30D9}" srcOrd="1" destOrd="0" presId="urn:microsoft.com/office/officeart/2024/3/layout/verticalVisualTextBlock1"/>
    <dgm:cxn modelId="{13CE688D-5230-48BC-9E6E-CA5CF0BF3425}" type="presParOf" srcId="{4B146F12-463D-48FC-9985-416D87908831}" destId="{D885D9CF-A438-4B80-9E3B-97B88686FC0D}"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4CC3CB-750D-449D-B288-BEF2F032042C}">
      <dsp:nvSpPr>
        <dsp:cNvPr id="0" name=""/>
        <dsp:cNvSpPr/>
      </dsp:nvSpPr>
      <dsp:spPr>
        <a:xfrm>
          <a:off x="0" y="0"/>
          <a:ext cx="1303331" cy="1303331"/>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1078" r="22419" b="-4"/>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C486004A-B165-4D8E-A8A5-107EA12E48AE}">
      <dsp:nvSpPr>
        <dsp:cNvPr id="0" name=""/>
        <dsp:cNvSpPr/>
      </dsp:nvSpPr>
      <dsp:spPr>
        <a:xfrm>
          <a:off x="1483331" y="0"/>
          <a:ext cx="5230220" cy="375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Broadcasting Concept</a:t>
          </a:r>
        </a:p>
      </dsp:txBody>
      <dsp:txXfrm>
        <a:off x="1483331" y="0"/>
        <a:ext cx="5230220" cy="375552"/>
      </dsp:txXfrm>
    </dsp:sp>
    <dsp:sp modelId="{382A419D-730C-415C-A60B-AA4CB66B847B}">
      <dsp:nvSpPr>
        <dsp:cNvPr id="0" name=""/>
        <dsp:cNvSpPr/>
      </dsp:nvSpPr>
      <dsp:spPr>
        <a:xfrm>
          <a:off x="1483331" y="375552"/>
          <a:ext cx="5230220" cy="927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Broadcasting automatically expands smaller arrays to match larger ones for efficient element-wise operations.</a:t>
          </a:r>
        </a:p>
      </dsp:txBody>
      <dsp:txXfrm>
        <a:off x="1483331" y="375552"/>
        <a:ext cx="5230220" cy="927779"/>
      </dsp:txXfrm>
    </dsp:sp>
    <dsp:sp modelId="{FFCABB3C-A9FE-47D1-8B03-3F75A07446EF}">
      <dsp:nvSpPr>
        <dsp:cNvPr id="0" name=""/>
        <dsp:cNvSpPr/>
      </dsp:nvSpPr>
      <dsp:spPr>
        <a:xfrm>
          <a:off x="0" y="1407598"/>
          <a:ext cx="1303331" cy="1303331"/>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 r="-10" b="-9"/>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F127E7D1-95A4-4E99-A4AC-93D9827A693A}">
      <dsp:nvSpPr>
        <dsp:cNvPr id="0" name=""/>
        <dsp:cNvSpPr/>
      </dsp:nvSpPr>
      <dsp:spPr>
        <a:xfrm>
          <a:off x="1483331" y="1407598"/>
          <a:ext cx="5230220" cy="375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Mathematical Operations</a:t>
          </a:r>
        </a:p>
      </dsp:txBody>
      <dsp:txXfrm>
        <a:off x="1483331" y="1407598"/>
        <a:ext cx="5230220" cy="375552"/>
      </dsp:txXfrm>
    </dsp:sp>
    <dsp:sp modelId="{943D2423-8710-4A53-84AA-52848FF0FF9C}">
      <dsp:nvSpPr>
        <dsp:cNvPr id="0" name=""/>
        <dsp:cNvSpPr/>
      </dsp:nvSpPr>
      <dsp:spPr>
        <a:xfrm>
          <a:off x="1483331" y="1783150"/>
          <a:ext cx="5230220" cy="927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NumPy functions like add, multiply, and divide perform arithmetic on arrays, supporting broadcasting.</a:t>
          </a:r>
        </a:p>
      </dsp:txBody>
      <dsp:txXfrm>
        <a:off x="1483331" y="1783150"/>
        <a:ext cx="5230220" cy="927779"/>
      </dsp:txXfrm>
    </dsp:sp>
    <dsp:sp modelId="{43C37296-C5C8-4A70-94C9-0D7B211D7F25}">
      <dsp:nvSpPr>
        <dsp:cNvPr id="0" name=""/>
        <dsp:cNvSpPr/>
      </dsp:nvSpPr>
      <dsp:spPr>
        <a:xfrm>
          <a:off x="0" y="2815196"/>
          <a:ext cx="1303331" cy="1303331"/>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35229" r="8523" b="4"/>
          <a:stretch>
            <a:fillRect l="-39000" r="-39000"/>
          </a:stretch>
        </a:blipFill>
        <a:ln>
          <a:noFill/>
        </a:ln>
        <a:effectLst/>
      </dsp:spPr>
      <dsp:style>
        <a:lnRef idx="0">
          <a:scrgbClr r="0" g="0" b="0"/>
        </a:lnRef>
        <a:fillRef idx="3">
          <a:scrgbClr r="0" g="0" b="0"/>
        </a:fillRef>
        <a:effectRef idx="2">
          <a:scrgbClr r="0" g="0" b="0"/>
        </a:effectRef>
        <a:fontRef idx="minor">
          <a:schemeClr val="lt1"/>
        </a:fontRef>
      </dsp:style>
    </dsp:sp>
    <dsp:sp modelId="{7C1FB4F7-FAFF-464F-AEFA-3206A95FB7D5}">
      <dsp:nvSpPr>
        <dsp:cNvPr id="0" name=""/>
        <dsp:cNvSpPr/>
      </dsp:nvSpPr>
      <dsp:spPr>
        <a:xfrm>
          <a:off x="1483331" y="2815196"/>
          <a:ext cx="5230220" cy="375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Code Efficiency</a:t>
          </a:r>
        </a:p>
      </dsp:txBody>
      <dsp:txXfrm>
        <a:off x="1483331" y="2815196"/>
        <a:ext cx="5230220" cy="375552"/>
      </dsp:txXfrm>
    </dsp:sp>
    <dsp:sp modelId="{FFF5B0B8-CCA1-4D96-88FD-4B5DE0E0E059}">
      <dsp:nvSpPr>
        <dsp:cNvPr id="0" name=""/>
        <dsp:cNvSpPr/>
      </dsp:nvSpPr>
      <dsp:spPr>
        <a:xfrm>
          <a:off x="1483331" y="3190749"/>
          <a:ext cx="5230220" cy="927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Broadcasting eliminates explicit loops, simplifying code and improving computational performance.</a:t>
          </a:r>
        </a:p>
      </dsp:txBody>
      <dsp:txXfrm>
        <a:off x="1483331" y="3190749"/>
        <a:ext cx="5230220" cy="9277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A9A673-C95A-42C4-B699-433664516D5E}">
      <dsp:nvSpPr>
        <dsp:cNvPr id="0" name=""/>
        <dsp:cNvSpPr/>
      </dsp:nvSpPr>
      <dsp:spPr>
        <a:xfrm>
          <a:off x="0" y="0"/>
          <a:ext cx="1303331" cy="1303331"/>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6198" r="17299" b="-4"/>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EBFC62B2-1C52-49C7-965C-57E3225390A8}">
      <dsp:nvSpPr>
        <dsp:cNvPr id="0" name=""/>
        <dsp:cNvSpPr/>
      </dsp:nvSpPr>
      <dsp:spPr>
        <a:xfrm>
          <a:off x="1483331" y="0"/>
          <a:ext cx="5230220" cy="375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Creating Boolean Masks</a:t>
          </a:r>
        </a:p>
      </dsp:txBody>
      <dsp:txXfrm>
        <a:off x="1483331" y="0"/>
        <a:ext cx="5230220" cy="375552"/>
      </dsp:txXfrm>
    </dsp:sp>
    <dsp:sp modelId="{D31730DB-30E6-4CE5-B340-1904562898A7}">
      <dsp:nvSpPr>
        <dsp:cNvPr id="0" name=""/>
        <dsp:cNvSpPr/>
      </dsp:nvSpPr>
      <dsp:spPr>
        <a:xfrm>
          <a:off x="1483331" y="375552"/>
          <a:ext cx="5230220" cy="927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Boolean masks indicate which elements satisfy specific conditions for filtering data efficiently.</a:t>
          </a:r>
        </a:p>
      </dsp:txBody>
      <dsp:txXfrm>
        <a:off x="1483331" y="375552"/>
        <a:ext cx="5230220" cy="927779"/>
      </dsp:txXfrm>
    </dsp:sp>
    <dsp:sp modelId="{50030E6F-88D3-4362-9CC3-E4B405B35BB3}">
      <dsp:nvSpPr>
        <dsp:cNvPr id="0" name=""/>
        <dsp:cNvSpPr/>
      </dsp:nvSpPr>
      <dsp:spPr>
        <a:xfrm>
          <a:off x="0" y="1407598"/>
          <a:ext cx="1303331" cy="1303331"/>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6064" r="8935" b="-1"/>
          <a:stretch>
            <a:fillRect l="-17000" r="-17000"/>
          </a:stretch>
        </a:blipFill>
        <a:ln>
          <a:noFill/>
        </a:ln>
        <a:effectLst/>
      </dsp:spPr>
      <dsp:style>
        <a:lnRef idx="0">
          <a:scrgbClr r="0" g="0" b="0"/>
        </a:lnRef>
        <a:fillRef idx="3">
          <a:scrgbClr r="0" g="0" b="0"/>
        </a:fillRef>
        <a:effectRef idx="2">
          <a:scrgbClr r="0" g="0" b="0"/>
        </a:effectRef>
        <a:fontRef idx="minor">
          <a:schemeClr val="lt1"/>
        </a:fontRef>
      </dsp:style>
    </dsp:sp>
    <dsp:sp modelId="{52A22BA8-160E-440D-91B0-30606428E610}">
      <dsp:nvSpPr>
        <dsp:cNvPr id="0" name=""/>
        <dsp:cNvSpPr/>
      </dsp:nvSpPr>
      <dsp:spPr>
        <a:xfrm>
          <a:off x="1483331" y="1407598"/>
          <a:ext cx="5230220" cy="375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Filtering with Masks</a:t>
          </a:r>
        </a:p>
      </dsp:txBody>
      <dsp:txXfrm>
        <a:off x="1483331" y="1407598"/>
        <a:ext cx="5230220" cy="375552"/>
      </dsp:txXfrm>
    </dsp:sp>
    <dsp:sp modelId="{D077AFAD-42C5-456E-896C-09ADD690CEC5}">
      <dsp:nvSpPr>
        <dsp:cNvPr id="0" name=""/>
        <dsp:cNvSpPr/>
      </dsp:nvSpPr>
      <dsp:spPr>
        <a:xfrm>
          <a:off x="1483331" y="1783150"/>
          <a:ext cx="5230220" cy="927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Masks enable extraction of subsets by filtering original arrays based on conditions like even numbers.</a:t>
          </a:r>
        </a:p>
      </dsp:txBody>
      <dsp:txXfrm>
        <a:off x="1483331" y="1783150"/>
        <a:ext cx="5230220" cy="927779"/>
      </dsp:txXfrm>
    </dsp:sp>
    <dsp:sp modelId="{C4889345-3532-4A50-9ED0-10C8ECD15C74}">
      <dsp:nvSpPr>
        <dsp:cNvPr id="0" name=""/>
        <dsp:cNvSpPr/>
      </dsp:nvSpPr>
      <dsp:spPr>
        <a:xfrm>
          <a:off x="0" y="2815196"/>
          <a:ext cx="1303331" cy="1303331"/>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3720" r="19529" b="-2"/>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1BB7C35A-A2A9-4DAE-9C38-52010A7A30D9}">
      <dsp:nvSpPr>
        <dsp:cNvPr id="0" name=""/>
        <dsp:cNvSpPr/>
      </dsp:nvSpPr>
      <dsp:spPr>
        <a:xfrm>
          <a:off x="1483331" y="2815196"/>
          <a:ext cx="5230220" cy="3755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Benefits of Masking</a:t>
          </a:r>
        </a:p>
      </dsp:txBody>
      <dsp:txXfrm>
        <a:off x="1483331" y="2815196"/>
        <a:ext cx="5230220" cy="375552"/>
      </dsp:txXfrm>
    </dsp:sp>
    <dsp:sp modelId="{D885D9CF-A438-4B80-9E3B-97B88686FC0D}">
      <dsp:nvSpPr>
        <dsp:cNvPr id="0" name=""/>
        <dsp:cNvSpPr/>
      </dsp:nvSpPr>
      <dsp:spPr>
        <a:xfrm>
          <a:off x="1483331" y="3190749"/>
          <a:ext cx="5230220" cy="927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Masking enhances data manipulation flexibility and power within numerical computing libraries like NumPy.</a:t>
          </a:r>
        </a:p>
      </dsp:txBody>
      <dsp:txXfrm>
        <a:off x="1483331" y="3190749"/>
        <a:ext cx="5230220" cy="927779"/>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5A09A4-2A02-4AFC-9FF7-B0A54C7D65C0}" type="datetimeFigureOut">
              <a:t>9/22/25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43C878-6707-41F4-BDEC-4D2430FCA6DF}" type="slidenum">
              <a:t>‹#›</a:t>
            </a:fld>
            <a:endParaRPr lang="en-US"/>
          </a:p>
        </p:txBody>
      </p:sp>
    </p:spTree>
    <p:extLst>
      <p:ext uri="{BB962C8B-B14F-4D97-AF65-F5344CB8AC3E}">
        <p14:creationId xmlns:p14="http://schemas.microsoft.com/office/powerpoint/2010/main" val="2622530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NumPy (Numerical Python) is a lightning-fast and robust Python library that forms the foundation of modern data science, machine learning, and scientific computing. 🚀
</a:t>
            </a:r>
            <a:endParaRPr lang="en-US"/>
          </a:p>
        </p:txBody>
      </p:sp>
      <p:sp>
        <p:nvSpPr>
          <p:cNvPr id="4" name="Slide Number Placeholder 3"/>
          <p:cNvSpPr>
            <a:spLocks noGrp="1"/>
          </p:cNvSpPr>
          <p:nvPr>
            <p:ph type="sldNum" sz="quarter" idx="5"/>
          </p:nvPr>
        </p:nvSpPr>
        <p:spPr/>
        <p:txBody>
          <a:bodyPr/>
          <a:lstStyle/>
          <a:p>
            <a:fld id="{2CA06020-E16B-423F-90F4-13AD2009A7F9}" type="slidenum">
              <a:t>1</a:t>
            </a:fld>
            <a:endParaRPr lang="en-US"/>
          </a:p>
        </p:txBody>
      </p:sp>
    </p:spTree>
    <p:extLst>
      <p:ext uri="{BB962C8B-B14F-4D97-AF65-F5344CB8AC3E}">
        <p14:creationId xmlns:p14="http://schemas.microsoft.com/office/powerpoint/2010/main" val="4231654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https://us-prod.asyncgw.teams.microsoft.com/v1/objects/0-cus-d11-61c4cd4161faa6a14e22120c18592e05/views/original/numpy_absolute_beginners_full.pptx
NumPy, short for Numerical Python, is an open-source Python library that provides support for large, multi-dimensional arrays and matrices, along with a collection of mathematical functions to operate on these arrays. It is widely used in scientific computing, data analysis, and machine learning due to its efficiency and ease of use. NumPy arrays are more efficient than Python lists for numerical operations because they are implemented in C and optimized for performance. The library is a foundational component of the scientific Python ecosystem and is used extensively in libraries such as Pandas, SciPy, and scikit-learn.
</a:t>
            </a:r>
          </a:p>
        </p:txBody>
      </p:sp>
      <p:sp>
        <p:nvSpPr>
          <p:cNvPr id="4" name="Slide Number Placeholder 3"/>
          <p:cNvSpPr>
            <a:spLocks noGrp="1"/>
          </p:cNvSpPr>
          <p:nvPr>
            <p:ph type="sldNum" sz="quarter" idx="5"/>
          </p:nvPr>
        </p:nvSpPr>
        <p:spPr/>
        <p:txBody>
          <a:bodyPr/>
          <a:lstStyle/>
          <a:p>
            <a:fld id="{2CA06020-E16B-423F-90F4-13AD2009A7F9}" type="slidenum">
              <a:t>2</a:t>
            </a:fld>
            <a:endParaRPr lang="en-US"/>
          </a:p>
        </p:txBody>
      </p:sp>
    </p:spTree>
    <p:extLst>
      <p:ext uri="{BB962C8B-B14F-4D97-AF65-F5344CB8AC3E}">
        <p14:creationId xmlns:p14="http://schemas.microsoft.com/office/powerpoint/2010/main" val="1645552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https://us-prod.asyncgw.teams.microsoft.com/v1/objects/0-cus-d11-61c4cd4161faa6a14e22120c18592e05/views/original/numpy_absolute_beginners_full.pptx
Importing NumPy, Creating Arrays, Array Attributes
</a:t>
            </a:r>
          </a:p>
        </p:txBody>
      </p:sp>
      <p:sp>
        <p:nvSpPr>
          <p:cNvPr id="4" name="Slide Number Placeholder 3"/>
          <p:cNvSpPr>
            <a:spLocks noGrp="1"/>
          </p:cNvSpPr>
          <p:nvPr>
            <p:ph type="sldNum" sz="quarter" idx="5"/>
          </p:nvPr>
        </p:nvSpPr>
        <p:spPr/>
        <p:txBody>
          <a:bodyPr/>
          <a:lstStyle/>
          <a:p>
            <a:fld id="{2CA06020-E16B-423F-90F4-13AD2009A7F9}" type="slidenum">
              <a:t>3</a:t>
            </a:fld>
            <a:endParaRPr lang="en-US"/>
          </a:p>
        </p:txBody>
      </p:sp>
    </p:spTree>
    <p:extLst>
      <p:ext uri="{BB962C8B-B14F-4D97-AF65-F5344CB8AC3E}">
        <p14:creationId xmlns:p14="http://schemas.microsoft.com/office/powerpoint/2010/main" val="231369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open </a:t>
            </a:r>
            <a:r>
              <a:rPr lang="en-US" dirty="0" err="1"/>
              <a:t>VSCode</a:t>
            </a:r>
            <a:r>
              <a:rPr lang="en-US" dirty="0"/>
              <a:t> and get started with below
To begin using NumPy, you must first import it into your Python environment. The conventional way to import NumPy is using the alias 'np', which makes the code more concise and readable. This is done with the statement: import </a:t>
            </a:r>
            <a:r>
              <a:rPr lang="en-US" dirty="0" err="1"/>
              <a:t>numpy</a:t>
            </a:r>
            <a:r>
              <a:rPr lang="en-US" dirty="0"/>
              <a:t> as np. This aliasing convention is widely adopted and helps distinguish NumPy functions from other similarly named functions in different libraries. Once imported, you can access all of NumPy’s features using the 'np.' prefix.
</a:t>
            </a:r>
          </a:p>
        </p:txBody>
      </p:sp>
      <p:sp>
        <p:nvSpPr>
          <p:cNvPr id="4" name="Slide Number Placeholder 3"/>
          <p:cNvSpPr>
            <a:spLocks noGrp="1"/>
          </p:cNvSpPr>
          <p:nvPr>
            <p:ph type="sldNum" sz="quarter" idx="5"/>
          </p:nvPr>
        </p:nvSpPr>
        <p:spPr/>
        <p:txBody>
          <a:bodyPr/>
          <a:lstStyle/>
          <a:p>
            <a:fld id="{2CA06020-E16B-423F-90F4-13AD2009A7F9}" type="slidenum">
              <a:t>4</a:t>
            </a:fld>
            <a:endParaRPr lang="en-US"/>
          </a:p>
        </p:txBody>
      </p:sp>
    </p:spTree>
    <p:extLst>
      <p:ext uri="{BB962C8B-B14F-4D97-AF65-F5344CB8AC3E}">
        <p14:creationId xmlns:p14="http://schemas.microsoft.com/office/powerpoint/2010/main" val="34914182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https://us-prod.asyncgw.teams.microsoft.com/v1/objects/0-cus-d11-61c4cd4161faa6a14e22120c18592e05/views/original/numpy_absolute_beginners_full.pptx
Arrays are the core data structure in NumPy. You can create arrays using the np.array() function, which converts Python lists into NumPy arrays. Arrays can be one-dimensional, two-dimensional, or multi-dimensional. For example, a one-dimensional array is created with np.array([1, 2, 3]), while a two-dimensional array is created with np.array([[1, 2], [3, 4]]). Arrays are homogeneous, meaning all elements must be of the same data type. This uniformity allows NumPy to optimize performance and memory usage.
</a:t>
            </a:r>
          </a:p>
        </p:txBody>
      </p:sp>
      <p:sp>
        <p:nvSpPr>
          <p:cNvPr id="4" name="Slide Number Placeholder 3"/>
          <p:cNvSpPr>
            <a:spLocks noGrp="1"/>
          </p:cNvSpPr>
          <p:nvPr>
            <p:ph type="sldNum" sz="quarter" idx="5"/>
          </p:nvPr>
        </p:nvSpPr>
        <p:spPr/>
        <p:txBody>
          <a:bodyPr/>
          <a:lstStyle/>
          <a:p>
            <a:fld id="{2CA06020-E16B-423F-90F4-13AD2009A7F9}" type="slidenum">
              <a:t>5</a:t>
            </a:fld>
            <a:endParaRPr lang="en-US"/>
          </a:p>
        </p:txBody>
      </p:sp>
    </p:spTree>
    <p:extLst>
      <p:ext uri="{BB962C8B-B14F-4D97-AF65-F5344CB8AC3E}">
        <p14:creationId xmlns:p14="http://schemas.microsoft.com/office/powerpoint/2010/main" val="2487284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https://us-prod.asyncgw.teams.microsoft.com/v1/objects/0-cus-d11-61c4cd4161faa6a14e22120c18592e05/views/original/numpy_absolute_beginners_full.pptx
NumPy arrays have several attributes that provide information about their structure. The ndim attribute returns the number of dimensions, shape returns a tuple indicating the size along each dimension, size gives the total number of elements, and dtype indicates the data type of the elements. For example, an array created with np.array([[1, 2], [3, 4]]) has ndim = 2, shape = (2, 2), size = 4, and dtype = int64. These attributes are essential for understanding and manipulating arrays effectively.
</a:t>
            </a:r>
          </a:p>
        </p:txBody>
      </p:sp>
      <p:sp>
        <p:nvSpPr>
          <p:cNvPr id="4" name="Slide Number Placeholder 3"/>
          <p:cNvSpPr>
            <a:spLocks noGrp="1"/>
          </p:cNvSpPr>
          <p:nvPr>
            <p:ph type="sldNum" sz="quarter" idx="5"/>
          </p:nvPr>
        </p:nvSpPr>
        <p:spPr/>
        <p:txBody>
          <a:bodyPr/>
          <a:lstStyle/>
          <a:p>
            <a:fld id="{2CA06020-E16B-423F-90F4-13AD2009A7F9}" type="slidenum">
              <a:t>6</a:t>
            </a:fld>
            <a:endParaRPr lang="en-US"/>
          </a:p>
        </p:txBody>
      </p:sp>
    </p:spTree>
    <p:extLst>
      <p:ext uri="{BB962C8B-B14F-4D97-AF65-F5344CB8AC3E}">
        <p14:creationId xmlns:p14="http://schemas.microsoft.com/office/powerpoint/2010/main" val="1179963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https://us-prod.asyncgw.teams.microsoft.com/v1/objects/0-cus-d11-61c4cd4161faa6a14e22120c18592e05/views/original/numpy_absolute_beginners_full.pptx
Indexing and Slicing, Views vs Copies, Reshaping Arrays
</a:t>
            </a:r>
          </a:p>
        </p:txBody>
      </p:sp>
      <p:sp>
        <p:nvSpPr>
          <p:cNvPr id="4" name="Slide Number Placeholder 3"/>
          <p:cNvSpPr>
            <a:spLocks noGrp="1"/>
          </p:cNvSpPr>
          <p:nvPr>
            <p:ph type="sldNum" sz="quarter" idx="5"/>
          </p:nvPr>
        </p:nvSpPr>
        <p:spPr/>
        <p:txBody>
          <a:bodyPr/>
          <a:lstStyle/>
          <a:p>
            <a:fld id="{2CA06020-E16B-423F-90F4-13AD2009A7F9}" type="slidenum">
              <a:t>7</a:t>
            </a:fld>
            <a:endParaRPr lang="en-US"/>
          </a:p>
        </p:txBody>
      </p:sp>
    </p:spTree>
    <p:extLst>
      <p:ext uri="{BB962C8B-B14F-4D97-AF65-F5344CB8AC3E}">
        <p14:creationId xmlns:p14="http://schemas.microsoft.com/office/powerpoint/2010/main" val="405370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Indexing and slicing are used to access and modify elements within a NumPy array. Arrays are zero-indexed, meaning the first element is accessed with index 0. You can use square brackets to access individual elements, slices, or subarrays. For example, a[0] accesses the first element, a[1:3] accesses a slice from index 1 to 2, and a[-1] accesses the last element. Slicing returns a view of the original array, not a copy, so changes to the slice affect the original array. This behavior is different from Python lists and is important to understand when manipulating data.
</a:t>
            </a:r>
          </a:p>
        </p:txBody>
      </p:sp>
      <p:sp>
        <p:nvSpPr>
          <p:cNvPr id="4" name="Slide Number Placeholder 3"/>
          <p:cNvSpPr>
            <a:spLocks noGrp="1"/>
          </p:cNvSpPr>
          <p:nvPr>
            <p:ph type="sldNum" sz="quarter" idx="5"/>
          </p:nvPr>
        </p:nvSpPr>
        <p:spPr/>
        <p:txBody>
          <a:bodyPr/>
          <a:lstStyle/>
          <a:p>
            <a:fld id="{2CA06020-E16B-423F-90F4-13AD2009A7F9}" type="slidenum">
              <a:t>8</a:t>
            </a:fld>
            <a:endParaRPr lang="en-US"/>
          </a:p>
        </p:txBody>
      </p:sp>
    </p:spTree>
    <p:extLst>
      <p:ext uri="{BB962C8B-B14F-4D97-AF65-F5344CB8AC3E}">
        <p14:creationId xmlns:p14="http://schemas.microsoft.com/office/powerpoint/2010/main" val="33586676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https://us-prod.asyncgw.teams.microsoft.com/v1/objects/0-cus-d11-61c4cd4161faa6a14e22120c18592e05/views/original/numpy_absolute_beginners_full.pptx
In NumPy, slicing an array returns a view rather than a copy. A view is a reference to the original data, so modifying the view also modifies the original array. This behavior is efficient but can lead to unintended side effects if not properly managed. To create a copy, you must explicitly use the copy() method. Understanding the difference between views and copies is crucial for avoiding bugs and ensuring data integrity when working with arrays.
</a:t>
            </a:r>
          </a:p>
        </p:txBody>
      </p:sp>
      <p:sp>
        <p:nvSpPr>
          <p:cNvPr id="4" name="Slide Number Placeholder 3"/>
          <p:cNvSpPr>
            <a:spLocks noGrp="1"/>
          </p:cNvSpPr>
          <p:nvPr>
            <p:ph type="sldNum" sz="quarter" idx="5"/>
          </p:nvPr>
        </p:nvSpPr>
        <p:spPr/>
        <p:txBody>
          <a:bodyPr/>
          <a:lstStyle/>
          <a:p>
            <a:fld id="{2CA06020-E16B-423F-90F4-13AD2009A7F9}" type="slidenum">
              <a:t>9</a:t>
            </a:fld>
            <a:endParaRPr lang="en-US"/>
          </a:p>
        </p:txBody>
      </p:sp>
    </p:spTree>
    <p:extLst>
      <p:ext uri="{BB962C8B-B14F-4D97-AF65-F5344CB8AC3E}">
        <p14:creationId xmlns:p14="http://schemas.microsoft.com/office/powerpoint/2010/main" val="4987722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Reshaping allows you to change the dimensions of an array without changing its data. This is done using the reshape() method. For example, an array created with </a:t>
            </a:r>
            <a:r>
              <a:rPr lang="en-US" dirty="0" err="1"/>
              <a:t>np.arange</a:t>
            </a:r>
            <a:r>
              <a:rPr lang="en-US" dirty="0"/>
              <a:t>(6) can be reshaped into a 2x3 array using </a:t>
            </a:r>
            <a:r>
              <a:rPr lang="en-US" dirty="0" err="1"/>
              <a:t>a.reshape</a:t>
            </a:r>
            <a:r>
              <a:rPr lang="en-US" dirty="0"/>
              <a:t>((2, 3)). The total number of elements must remain the same. Reshaping is useful for preparing data for machine learning models or other computational tasks that require specific input shapes. You can also use -1 as a placeholder to automatically calculate the appropriate dimension size.
</a:t>
            </a:r>
          </a:p>
        </p:txBody>
      </p:sp>
      <p:sp>
        <p:nvSpPr>
          <p:cNvPr id="4" name="Slide Number Placeholder 3"/>
          <p:cNvSpPr>
            <a:spLocks noGrp="1"/>
          </p:cNvSpPr>
          <p:nvPr>
            <p:ph type="sldNum" sz="quarter" idx="5"/>
          </p:nvPr>
        </p:nvSpPr>
        <p:spPr/>
        <p:txBody>
          <a:bodyPr/>
          <a:lstStyle/>
          <a:p>
            <a:fld id="{2CA06020-E16B-423F-90F4-13AD2009A7F9}" type="slidenum">
              <a:t>10</a:t>
            </a:fld>
            <a:endParaRPr lang="en-US"/>
          </a:p>
        </p:txBody>
      </p:sp>
    </p:spTree>
    <p:extLst>
      <p:ext uri="{BB962C8B-B14F-4D97-AF65-F5344CB8AC3E}">
        <p14:creationId xmlns:p14="http://schemas.microsoft.com/office/powerpoint/2010/main" val="40675880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https://us-prod.asyncgw.teams.microsoft.com/v1/objects/0-cus-d11-61c4cd4161faa6a14e22120c18592e05/views/original/numpy_absolute_beginners_full.pptx
Creating Arrays with Functions, Concatenating and Sorting Arrays, Broadcasting and Mathematical Operations
</a:t>
            </a:r>
          </a:p>
        </p:txBody>
      </p:sp>
      <p:sp>
        <p:nvSpPr>
          <p:cNvPr id="4" name="Slide Number Placeholder 3"/>
          <p:cNvSpPr>
            <a:spLocks noGrp="1"/>
          </p:cNvSpPr>
          <p:nvPr>
            <p:ph type="sldNum" sz="quarter" idx="5"/>
          </p:nvPr>
        </p:nvSpPr>
        <p:spPr/>
        <p:txBody>
          <a:bodyPr/>
          <a:lstStyle/>
          <a:p>
            <a:fld id="{2CA06020-E16B-423F-90F4-13AD2009A7F9}" type="slidenum">
              <a:t>11</a:t>
            </a:fld>
            <a:endParaRPr lang="en-US"/>
          </a:p>
        </p:txBody>
      </p:sp>
    </p:spTree>
    <p:extLst>
      <p:ext uri="{BB962C8B-B14F-4D97-AF65-F5344CB8AC3E}">
        <p14:creationId xmlns:p14="http://schemas.microsoft.com/office/powerpoint/2010/main" val="25392853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https://us-prod.asyncgw.teams.microsoft.com/v1/objects/0-cus-d11-61c4cd4161faa6a14e22120c18592e05/views/original/numpy_absolute_beginners_full.pptx
NumPy provides several functions to create arrays efficiently. np.zeros() creates an array filled with zeros, np.ones() creates an array filled with ones, and np.empty() creates an uninitialized array. np.arange() generates arrays with evenly spaced values within a specified range, and np.linspace() generates arrays with a specified number of evenly spaced values between two endpoints. These functions are useful for initializing arrays for computation or simulation tasks.
</a:t>
            </a:r>
          </a:p>
        </p:txBody>
      </p:sp>
      <p:sp>
        <p:nvSpPr>
          <p:cNvPr id="4" name="Slide Number Placeholder 3"/>
          <p:cNvSpPr>
            <a:spLocks noGrp="1"/>
          </p:cNvSpPr>
          <p:nvPr>
            <p:ph type="sldNum" sz="quarter" idx="5"/>
          </p:nvPr>
        </p:nvSpPr>
        <p:spPr/>
        <p:txBody>
          <a:bodyPr/>
          <a:lstStyle/>
          <a:p>
            <a:fld id="{2CA06020-E16B-423F-90F4-13AD2009A7F9}" type="slidenum">
              <a:t>12</a:t>
            </a:fld>
            <a:endParaRPr lang="en-US"/>
          </a:p>
        </p:txBody>
      </p:sp>
    </p:spTree>
    <p:extLst>
      <p:ext uri="{BB962C8B-B14F-4D97-AF65-F5344CB8AC3E}">
        <p14:creationId xmlns:p14="http://schemas.microsoft.com/office/powerpoint/2010/main" val="3004796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Image source: Microsoft 365 content library
1. Concatenate two NumPy arrays a and b using np.concatenate((a, b)) and display the result. 2. Sort an array arr using np.sort(arr) and explain how the data changes. 3. Use np.argsort(arr) to find the indices that would sort arr, and discuss its application in data analysis.</a:t>
            </a:r>
          </a:p>
        </p:txBody>
      </p:sp>
      <p:sp>
        <p:nvSpPr>
          <p:cNvPr id="4" name="Slide Number Placeholder 3"/>
          <p:cNvSpPr>
            <a:spLocks noGrp="1"/>
          </p:cNvSpPr>
          <p:nvPr>
            <p:ph type="sldNum" sz="quarter" idx="5"/>
          </p:nvPr>
        </p:nvSpPr>
        <p:spPr/>
        <p:txBody>
          <a:bodyPr/>
          <a:lstStyle/>
          <a:p>
            <a:fld id="{3B43C878-6707-41F4-BDEC-4D2430FCA6DF}" type="slidenum">
              <a:rPr lang="en-US"/>
              <a:t>13</a:t>
            </a:fld>
            <a:endParaRPr lang="en-US"/>
          </a:p>
        </p:txBody>
      </p:sp>
    </p:spTree>
    <p:extLst>
      <p:ext uri="{BB962C8B-B14F-4D97-AF65-F5344CB8AC3E}">
        <p14:creationId xmlns:p14="http://schemas.microsoft.com/office/powerpoint/2010/main" val="38871158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outlines a NumPy coding challenge where participants merge and organize student scores from two batches. The key steps include concatenating arrays, sorting values, retrieving sorting indices, finding insertion points for specific scores, and lexicographically sorting students by their names. This challenge helps reinforce array manipulation and sorting techniques in NumPy.</a:t>
            </a:r>
          </a:p>
        </p:txBody>
      </p:sp>
      <p:sp>
        <p:nvSpPr>
          <p:cNvPr id="4" name="Slide Number Placeholder 3"/>
          <p:cNvSpPr>
            <a:spLocks noGrp="1"/>
          </p:cNvSpPr>
          <p:nvPr>
            <p:ph type="sldNum" sz="quarter" idx="5"/>
          </p:nvPr>
        </p:nvSpPr>
        <p:spPr/>
        <p:txBody>
          <a:bodyPr/>
          <a:lstStyle/>
          <a:p>
            <a:fld id="{3B43C878-6707-41F4-BDEC-4D2430FCA6DF}" type="slidenum">
              <a:rPr lang="en-US" smtClean="0"/>
              <a:t>14</a:t>
            </a:fld>
            <a:endParaRPr lang="en-US"/>
          </a:p>
        </p:txBody>
      </p:sp>
    </p:spTree>
    <p:extLst>
      <p:ext uri="{BB962C8B-B14F-4D97-AF65-F5344CB8AC3E}">
        <p14:creationId xmlns:p14="http://schemas.microsoft.com/office/powerpoint/2010/main" val="1092902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Broadcasting allows NumPy to perform operations on arrays of different shapes by automatically expanding the smaller array to match the shape of the larger one. This enables efficient computation without explicit looping. For example, adding a scalar to an array applies the operation to each element. Mathematical operations such as addition, multiplication, and division can be performed using functions like </a:t>
            </a:r>
            <a:r>
              <a:rPr lang="en-US" dirty="0" err="1"/>
              <a:t>np.add</a:t>
            </a:r>
            <a:r>
              <a:rPr lang="en-US" dirty="0"/>
              <a:t>(), </a:t>
            </a:r>
            <a:r>
              <a:rPr lang="en-US" dirty="0" err="1"/>
              <a:t>np.multiply</a:t>
            </a:r>
            <a:r>
              <a:rPr lang="en-US" dirty="0"/>
              <a:t>(), and </a:t>
            </a:r>
            <a:r>
              <a:rPr lang="en-US" dirty="0" err="1"/>
              <a:t>np.divide</a:t>
            </a:r>
            <a:r>
              <a:rPr lang="en-US" dirty="0"/>
              <a:t>(). Broadcasting simplifies code and improves performance.
</a:t>
            </a:r>
          </a:p>
        </p:txBody>
      </p:sp>
      <p:sp>
        <p:nvSpPr>
          <p:cNvPr id="4" name="Slide Number Placeholder 3"/>
          <p:cNvSpPr>
            <a:spLocks noGrp="1"/>
          </p:cNvSpPr>
          <p:nvPr>
            <p:ph type="sldNum" sz="quarter" idx="5"/>
          </p:nvPr>
        </p:nvSpPr>
        <p:spPr/>
        <p:txBody>
          <a:bodyPr/>
          <a:lstStyle/>
          <a:p>
            <a:fld id="{2CA06020-E16B-423F-90F4-13AD2009A7F9}" type="slidenum">
              <a:t>15</a:t>
            </a:fld>
            <a:endParaRPr lang="en-US"/>
          </a:p>
        </p:txBody>
      </p:sp>
    </p:spTree>
    <p:extLst>
      <p:ext uri="{BB962C8B-B14F-4D97-AF65-F5344CB8AC3E}">
        <p14:creationId xmlns:p14="http://schemas.microsoft.com/office/powerpoint/2010/main" val="16575764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Generated by Copilot</a:t>
            </a:r>
            <a:br>
              <a:rPr lang="en-US" dirty="0"/>
            </a:br>
            <a:br>
              <a:rPr lang="en-US" dirty="0"/>
            </a:br>
            <a:r>
              <a:rPr lang="en-US" dirty="0"/>
              <a:t>This challenge focuses on using NumPy's broadcasting capabilities to efficiently manage and adjust budgets for three departments over four quarters. By applying department-specific multipliers, we can scale the budgets without explicit loops, making the process more efficient. Additionally, a fixed bonus of $100 is added to each department's budget, reflecting a uniform increase. Finally, dividing the adjusted budgets by 12 converts the quarterly figures into monthly allocations, providing a clear view of budget distribution over time. The visual elements, including a calculator and financial documents, reinforce the practical application of these calculations in real-world budget management scenarios. </a:t>
            </a:r>
            <a:br>
              <a:rPr lang="en-US" dirty="0"/>
            </a:br>
            <a:endParaRPr lang="en-US" dirty="0"/>
          </a:p>
          <a:p>
            <a:pPr>
              <a:buNone/>
            </a:pPr>
            <a:r>
              <a:rPr lang="en-US" dirty="0"/>
              <a:t>______</a:t>
            </a:r>
          </a:p>
          <a:p>
            <a:pPr>
              <a:buNone/>
            </a:pPr>
            <a:br>
              <a:rPr lang="en-US" dirty="0"/>
            </a:br>
            <a:r>
              <a:rPr lang="en-US" dirty="0"/>
              <a:t>This challenge demonstrates how to use NumPy broadcasting to adjust budgets for multiple departments over several quarters. By multiplying with department-specific multipliers, adding bonuses, and dividing for monthly allocations, NumPy simplifies complex financial calculations with efficient array operations.</a:t>
            </a:r>
          </a:p>
        </p:txBody>
      </p:sp>
      <p:sp>
        <p:nvSpPr>
          <p:cNvPr id="4" name="Slide Number Placeholder 3"/>
          <p:cNvSpPr>
            <a:spLocks noGrp="1"/>
          </p:cNvSpPr>
          <p:nvPr>
            <p:ph type="sldNum" sz="quarter" idx="5"/>
          </p:nvPr>
        </p:nvSpPr>
        <p:spPr/>
        <p:txBody>
          <a:bodyPr/>
          <a:lstStyle/>
          <a:p>
            <a:fld id="{3B43C878-6707-41F4-BDEC-4D2430FCA6DF}" type="slidenum">
              <a:rPr lang="en-US" smtClean="0"/>
              <a:t>16</a:t>
            </a:fld>
            <a:endParaRPr lang="en-US"/>
          </a:p>
        </p:txBody>
      </p:sp>
    </p:spTree>
    <p:extLst>
      <p:ext uri="{BB962C8B-B14F-4D97-AF65-F5344CB8AC3E}">
        <p14:creationId xmlns:p14="http://schemas.microsoft.com/office/powerpoint/2010/main" val="19406885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https://us-prod.asyncgw.teams.microsoft.com/v1/objects/0-cus-d11-61c4cd4161faa6a14e22120c18592e05/views/original/numpy_absolute_beginners_full.pptx
Boolean Indexing, Masking and Filtering
</a:t>
            </a:r>
          </a:p>
        </p:txBody>
      </p:sp>
      <p:sp>
        <p:nvSpPr>
          <p:cNvPr id="4" name="Slide Number Placeholder 3"/>
          <p:cNvSpPr>
            <a:spLocks noGrp="1"/>
          </p:cNvSpPr>
          <p:nvPr>
            <p:ph type="sldNum" sz="quarter" idx="5"/>
          </p:nvPr>
        </p:nvSpPr>
        <p:spPr/>
        <p:txBody>
          <a:bodyPr/>
          <a:lstStyle/>
          <a:p>
            <a:fld id="{2CA06020-E16B-423F-90F4-13AD2009A7F9}" type="slidenum">
              <a:t>17</a:t>
            </a:fld>
            <a:endParaRPr lang="en-US"/>
          </a:p>
        </p:txBody>
      </p:sp>
    </p:spTree>
    <p:extLst>
      <p:ext uri="{BB962C8B-B14F-4D97-AF65-F5344CB8AC3E}">
        <p14:creationId xmlns:p14="http://schemas.microsoft.com/office/powerpoint/2010/main" val="3002831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Boolean indexing allows you to select elements from an array based on a condition. For example, a[a &gt; 2] returns all elements greater than 2. This technique is powerful for filtering data and performing conditional operations. You can combine multiple conditions using logical operators to create complex filters. Boolean indexing is widely used in data analysis and preprocessing tasks.
</a:t>
            </a:r>
          </a:p>
        </p:txBody>
      </p:sp>
      <p:sp>
        <p:nvSpPr>
          <p:cNvPr id="4" name="Slide Number Placeholder 3"/>
          <p:cNvSpPr>
            <a:spLocks noGrp="1"/>
          </p:cNvSpPr>
          <p:nvPr>
            <p:ph type="sldNum" sz="quarter" idx="5"/>
          </p:nvPr>
        </p:nvSpPr>
        <p:spPr/>
        <p:txBody>
          <a:bodyPr/>
          <a:lstStyle/>
          <a:p>
            <a:fld id="{2CA06020-E16B-423F-90F4-13AD2009A7F9}" type="slidenum">
              <a:t>18</a:t>
            </a:fld>
            <a:endParaRPr lang="en-US"/>
          </a:p>
        </p:txBody>
      </p:sp>
    </p:spTree>
    <p:extLst>
      <p:ext uri="{BB962C8B-B14F-4D97-AF65-F5344CB8AC3E}">
        <p14:creationId xmlns:p14="http://schemas.microsoft.com/office/powerpoint/2010/main" val="8112461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https://us-prod.asyncgw.teams.microsoft.com/v1/objects/0-cus-d11-61c4cd4161faa6a14e22120c18592e05/views/original/numpy_absolute_beginners_full.pptx
Masking involves creating a boolean array that indicates which elements meet a condition. This mask can then be used to filter the original array. For example, mask = a % 2 == 0 creates a mask for even numbers, and a[mask] returns the even elements. Masking is useful for extracting subsets of data and performing targeted operations. It enhances the flexibility and power of NumPy for data manipulation.
</a:t>
            </a:r>
          </a:p>
        </p:txBody>
      </p:sp>
      <p:sp>
        <p:nvSpPr>
          <p:cNvPr id="4" name="Slide Number Placeholder 3"/>
          <p:cNvSpPr>
            <a:spLocks noGrp="1"/>
          </p:cNvSpPr>
          <p:nvPr>
            <p:ph type="sldNum" sz="quarter" idx="5"/>
          </p:nvPr>
        </p:nvSpPr>
        <p:spPr/>
        <p:txBody>
          <a:bodyPr/>
          <a:lstStyle/>
          <a:p>
            <a:fld id="{2CA06020-E16B-423F-90F4-13AD2009A7F9}" type="slidenum">
              <a:t>19</a:t>
            </a:fld>
            <a:endParaRPr lang="en-US"/>
          </a:p>
        </p:txBody>
      </p:sp>
    </p:spTree>
    <p:extLst>
      <p:ext uri="{BB962C8B-B14F-4D97-AF65-F5344CB8AC3E}">
        <p14:creationId xmlns:p14="http://schemas.microsoft.com/office/powerpoint/2010/main" val="37913059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presents a practical NumPy challenge involving student exam scores from two classes. </a:t>
            </a:r>
            <a:r>
              <a:rPr lang="en-US" dirty="0"/>
              <a:t>The tasks include combining and reshaping arrays, using </a:t>
            </a:r>
            <a:r>
              <a:rPr lang="en-US" dirty="0" err="1"/>
              <a:t>boolean</a:t>
            </a:r>
            <a:r>
              <a:rPr lang="en-US" dirty="0"/>
              <a:t> indexing to find high scores, applying broadcasting for a score curve, sorting data, and calculating class averages. The example solution in the notes demonstrates how NumPy simplifies such data manipulations, making it an essential tool for efficient numerical analysis.</a:t>
            </a:r>
          </a:p>
        </p:txBody>
      </p:sp>
      <p:sp>
        <p:nvSpPr>
          <p:cNvPr id="4" name="Slide Number Placeholder 3"/>
          <p:cNvSpPr>
            <a:spLocks noGrp="1"/>
          </p:cNvSpPr>
          <p:nvPr>
            <p:ph type="sldNum" sz="quarter" idx="5"/>
          </p:nvPr>
        </p:nvSpPr>
        <p:spPr/>
        <p:txBody>
          <a:bodyPr/>
          <a:lstStyle/>
          <a:p>
            <a:fld id="{3B43C878-6707-41F4-BDEC-4D2430FCA6DF}" type="slidenum">
              <a:rPr lang="en-US" smtClean="0"/>
              <a:t>20</a:t>
            </a:fld>
            <a:endParaRPr lang="en-US"/>
          </a:p>
        </p:txBody>
      </p:sp>
    </p:spTree>
    <p:extLst>
      <p:ext uri="{BB962C8B-B14F-4D97-AF65-F5344CB8AC3E}">
        <p14:creationId xmlns:p14="http://schemas.microsoft.com/office/powerpoint/2010/main" val="3466518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A6873-3DFB-B258-6377-70D83506B2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640922-1C3F-8D3C-3A60-FCB38DDBD3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894FFE-5BFE-991D-D13B-87A189263184}"/>
              </a:ext>
            </a:extLst>
          </p:cNvPr>
          <p:cNvSpPr>
            <a:spLocks noGrp="1"/>
          </p:cNvSpPr>
          <p:nvPr>
            <p:ph type="dt" sz="half" idx="10"/>
          </p:nvPr>
        </p:nvSpPr>
        <p:spPr/>
        <p:txBody>
          <a:bodyPr/>
          <a:lstStyle/>
          <a:p>
            <a:fld id="{18A4B20A-718A-4149-B5D2-676E857EB828}" type="datetime1">
              <a:rPr lang="en-US" smtClean="0"/>
              <a:t>9/22/25</a:t>
            </a:fld>
            <a:endParaRPr lang="en-US"/>
          </a:p>
        </p:txBody>
      </p:sp>
      <p:sp>
        <p:nvSpPr>
          <p:cNvPr id="5" name="Footer Placeholder 4">
            <a:extLst>
              <a:ext uri="{FF2B5EF4-FFF2-40B4-BE49-F238E27FC236}">
                <a16:creationId xmlns:a16="http://schemas.microsoft.com/office/drawing/2014/main" id="{0DD2C6CB-F13A-E176-6ACD-FBAB24888571}"/>
              </a:ext>
            </a:extLst>
          </p:cNvPr>
          <p:cNvSpPr>
            <a:spLocks noGrp="1"/>
          </p:cNvSpPr>
          <p:nvPr>
            <p:ph type="ftr" sz="quarter" idx="11"/>
          </p:nvPr>
        </p:nvSpPr>
        <p:spPr/>
        <p:txBody>
          <a:bodyPr/>
          <a:lstStyle/>
          <a:p>
            <a:r>
              <a:rPr lang="en-US"/>
              <a:t>Footer Text</a:t>
            </a:r>
            <a:endParaRPr lang="en-US" dirty="0"/>
          </a:p>
        </p:txBody>
      </p:sp>
      <p:sp>
        <p:nvSpPr>
          <p:cNvPr id="6" name="Slide Number Placeholder 5">
            <a:extLst>
              <a:ext uri="{FF2B5EF4-FFF2-40B4-BE49-F238E27FC236}">
                <a16:creationId xmlns:a16="http://schemas.microsoft.com/office/drawing/2014/main" id="{ECC2204D-D171-F495-75A6-06BC730DD8B3}"/>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142829520"/>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4D4C0-3A70-F8CF-27F1-219DEBE7C9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3F155A-4E61-209F-8C5F-131902E250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4E13BA-984D-3CE5-5AFA-88ED0070F2CF}"/>
              </a:ext>
            </a:extLst>
          </p:cNvPr>
          <p:cNvSpPr>
            <a:spLocks noGrp="1"/>
          </p:cNvSpPr>
          <p:nvPr>
            <p:ph type="dt" sz="half" idx="10"/>
          </p:nvPr>
        </p:nvSpPr>
        <p:spPr/>
        <p:txBody>
          <a:bodyPr/>
          <a:lstStyle/>
          <a:p>
            <a:fld id="{18A4B20A-718A-4149-B5D2-676E857EB828}" type="datetime1">
              <a:rPr lang="en-US" smtClean="0"/>
              <a:t>9/22/25</a:t>
            </a:fld>
            <a:endParaRPr lang="en-US"/>
          </a:p>
        </p:txBody>
      </p:sp>
      <p:sp>
        <p:nvSpPr>
          <p:cNvPr id="5" name="Footer Placeholder 4">
            <a:extLst>
              <a:ext uri="{FF2B5EF4-FFF2-40B4-BE49-F238E27FC236}">
                <a16:creationId xmlns:a16="http://schemas.microsoft.com/office/drawing/2014/main" id="{E48AA799-095E-3403-1430-BE6008336DFA}"/>
              </a:ext>
            </a:extLst>
          </p:cNvPr>
          <p:cNvSpPr>
            <a:spLocks noGrp="1"/>
          </p:cNvSpPr>
          <p:nvPr>
            <p:ph type="ftr" sz="quarter" idx="11"/>
          </p:nvPr>
        </p:nvSpPr>
        <p:spPr/>
        <p:txBody>
          <a:bodyPr/>
          <a:lstStyle/>
          <a:p>
            <a:r>
              <a:rPr lang="en-US"/>
              <a:t>Footer Text</a:t>
            </a:r>
            <a:endParaRPr lang="en-US" dirty="0"/>
          </a:p>
        </p:txBody>
      </p:sp>
      <p:sp>
        <p:nvSpPr>
          <p:cNvPr id="6" name="Slide Number Placeholder 5">
            <a:extLst>
              <a:ext uri="{FF2B5EF4-FFF2-40B4-BE49-F238E27FC236}">
                <a16:creationId xmlns:a16="http://schemas.microsoft.com/office/drawing/2014/main" id="{350C891E-389F-7BC4-4C92-8EE962721FA3}"/>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100999692"/>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B8F28-42D3-74FC-5FD3-629483D08E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9F8F03-3832-18F5-A4EF-E013E6F0E95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F60B27-AFC1-A2EE-FA3B-DCEBD147C399}"/>
              </a:ext>
            </a:extLst>
          </p:cNvPr>
          <p:cNvSpPr>
            <a:spLocks noGrp="1"/>
          </p:cNvSpPr>
          <p:nvPr>
            <p:ph type="dt" sz="half" idx="10"/>
          </p:nvPr>
        </p:nvSpPr>
        <p:spPr/>
        <p:txBody>
          <a:bodyPr/>
          <a:lstStyle/>
          <a:p>
            <a:fld id="{18A4B20A-718A-4149-B5D2-676E857EB828}" type="datetime1">
              <a:rPr lang="en-US" smtClean="0"/>
              <a:t>9/22/25</a:t>
            </a:fld>
            <a:endParaRPr lang="en-US"/>
          </a:p>
        </p:txBody>
      </p:sp>
      <p:sp>
        <p:nvSpPr>
          <p:cNvPr id="5" name="Footer Placeholder 4">
            <a:extLst>
              <a:ext uri="{FF2B5EF4-FFF2-40B4-BE49-F238E27FC236}">
                <a16:creationId xmlns:a16="http://schemas.microsoft.com/office/drawing/2014/main" id="{B8CE3890-9D6C-1B8D-4EC4-380BBACB1982}"/>
              </a:ext>
            </a:extLst>
          </p:cNvPr>
          <p:cNvSpPr>
            <a:spLocks noGrp="1"/>
          </p:cNvSpPr>
          <p:nvPr>
            <p:ph type="ftr" sz="quarter" idx="11"/>
          </p:nvPr>
        </p:nvSpPr>
        <p:spPr/>
        <p:txBody>
          <a:bodyPr/>
          <a:lstStyle/>
          <a:p>
            <a:r>
              <a:rPr lang="en-US"/>
              <a:t>Footer Text</a:t>
            </a:r>
            <a:endParaRPr lang="en-US" dirty="0"/>
          </a:p>
        </p:txBody>
      </p:sp>
      <p:sp>
        <p:nvSpPr>
          <p:cNvPr id="6" name="Slide Number Placeholder 5">
            <a:extLst>
              <a:ext uri="{FF2B5EF4-FFF2-40B4-BE49-F238E27FC236}">
                <a16:creationId xmlns:a16="http://schemas.microsoft.com/office/drawing/2014/main" id="{52C332E9-1274-CEF5-4A92-83F44088B1C3}"/>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1971152546"/>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79EA3-FA4B-688B-4D79-D96BDCBD10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81211-5A3A-D3AD-4F23-2F408C976C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97B973-1FD3-B3B0-3CB1-A9A9B03C95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1D26C3-4CCA-7715-7E51-E69AC3E6E80F}"/>
              </a:ext>
            </a:extLst>
          </p:cNvPr>
          <p:cNvSpPr>
            <a:spLocks noGrp="1"/>
          </p:cNvSpPr>
          <p:nvPr>
            <p:ph type="dt" sz="half" idx="10"/>
          </p:nvPr>
        </p:nvSpPr>
        <p:spPr/>
        <p:txBody>
          <a:bodyPr/>
          <a:lstStyle/>
          <a:p>
            <a:fld id="{9EAD527F-9C49-4481-A18C-80BA2EA99E79}" type="datetime1">
              <a:rPr lang="en-US" smtClean="0"/>
              <a:t>9/22/25</a:t>
            </a:fld>
            <a:endParaRPr lang="en-US"/>
          </a:p>
        </p:txBody>
      </p:sp>
      <p:sp>
        <p:nvSpPr>
          <p:cNvPr id="6" name="Footer Placeholder 5">
            <a:extLst>
              <a:ext uri="{FF2B5EF4-FFF2-40B4-BE49-F238E27FC236}">
                <a16:creationId xmlns:a16="http://schemas.microsoft.com/office/drawing/2014/main" id="{E4C732DF-C6F3-FDB7-A0CB-14D4461D680C}"/>
              </a:ext>
            </a:extLst>
          </p:cNvPr>
          <p:cNvSpPr>
            <a:spLocks noGrp="1"/>
          </p:cNvSpPr>
          <p:nvPr>
            <p:ph type="ftr" sz="quarter" idx="11"/>
          </p:nvPr>
        </p:nvSpPr>
        <p:spPr/>
        <p:txBody>
          <a:bodyPr/>
          <a:lstStyle/>
          <a:p>
            <a:r>
              <a:rPr lang="en-US"/>
              <a:t>Footer Text</a:t>
            </a:r>
            <a:endParaRPr lang="en-US" dirty="0"/>
          </a:p>
        </p:txBody>
      </p:sp>
      <p:sp>
        <p:nvSpPr>
          <p:cNvPr id="7" name="Slide Number Placeholder 6">
            <a:extLst>
              <a:ext uri="{FF2B5EF4-FFF2-40B4-BE49-F238E27FC236}">
                <a16:creationId xmlns:a16="http://schemas.microsoft.com/office/drawing/2014/main" id="{DFB7200C-EE6E-FB8D-4ED1-EE4471851B4C}"/>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252521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C9BC6-0609-E6DA-2020-D8074F21E53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CC3171-A485-AD10-1073-0BEEF44420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80B6BA-EC7D-BE08-ACCA-F03919E363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2392B2-B741-C000-9EDA-27A07FF66D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627561-7579-15EA-525D-2BB1671078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003C47-4D03-6217-1770-F8AE944DDED1}"/>
              </a:ext>
            </a:extLst>
          </p:cNvPr>
          <p:cNvSpPr>
            <a:spLocks noGrp="1"/>
          </p:cNvSpPr>
          <p:nvPr>
            <p:ph type="dt" sz="half" idx="10"/>
          </p:nvPr>
        </p:nvSpPr>
        <p:spPr/>
        <p:txBody>
          <a:bodyPr/>
          <a:lstStyle/>
          <a:p>
            <a:fld id="{F38039EB-95FD-42A0-BF06-87A9D15142C9}" type="datetime1">
              <a:rPr lang="en-US" smtClean="0"/>
              <a:t>9/22/25</a:t>
            </a:fld>
            <a:endParaRPr lang="en-US"/>
          </a:p>
        </p:txBody>
      </p:sp>
      <p:sp>
        <p:nvSpPr>
          <p:cNvPr id="8" name="Footer Placeholder 7">
            <a:extLst>
              <a:ext uri="{FF2B5EF4-FFF2-40B4-BE49-F238E27FC236}">
                <a16:creationId xmlns:a16="http://schemas.microsoft.com/office/drawing/2014/main" id="{8C6470F6-3313-56C8-7FEF-FA9F1174F94C}"/>
              </a:ext>
            </a:extLst>
          </p:cNvPr>
          <p:cNvSpPr>
            <a:spLocks noGrp="1"/>
          </p:cNvSpPr>
          <p:nvPr>
            <p:ph type="ftr" sz="quarter" idx="11"/>
          </p:nvPr>
        </p:nvSpPr>
        <p:spPr/>
        <p:txBody>
          <a:bodyPr/>
          <a:lstStyle/>
          <a:p>
            <a:r>
              <a:rPr lang="en-US"/>
              <a:t>Footer Text</a:t>
            </a:r>
            <a:endParaRPr lang="en-US" dirty="0"/>
          </a:p>
        </p:txBody>
      </p:sp>
      <p:sp>
        <p:nvSpPr>
          <p:cNvPr id="9" name="Slide Number Placeholder 8">
            <a:extLst>
              <a:ext uri="{FF2B5EF4-FFF2-40B4-BE49-F238E27FC236}">
                <a16:creationId xmlns:a16="http://schemas.microsoft.com/office/drawing/2014/main" id="{A5ADB724-5455-9CE9-FC61-0C460967FFEA}"/>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1097420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A4865-08B9-5F96-5D5D-A3B6B93364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07203F-20DC-2F2F-B7FA-298E63C80CE5}"/>
              </a:ext>
            </a:extLst>
          </p:cNvPr>
          <p:cNvSpPr>
            <a:spLocks noGrp="1"/>
          </p:cNvSpPr>
          <p:nvPr>
            <p:ph type="dt" sz="half" idx="10"/>
          </p:nvPr>
        </p:nvSpPr>
        <p:spPr/>
        <p:txBody>
          <a:bodyPr/>
          <a:lstStyle/>
          <a:p>
            <a:fld id="{6819701D-AA71-4F6F-B74A-236E07E9ABE4}" type="datetime1">
              <a:rPr lang="en-US" smtClean="0"/>
              <a:t>9/22/25</a:t>
            </a:fld>
            <a:endParaRPr lang="en-US"/>
          </a:p>
        </p:txBody>
      </p:sp>
      <p:sp>
        <p:nvSpPr>
          <p:cNvPr id="4" name="Footer Placeholder 3">
            <a:extLst>
              <a:ext uri="{FF2B5EF4-FFF2-40B4-BE49-F238E27FC236}">
                <a16:creationId xmlns:a16="http://schemas.microsoft.com/office/drawing/2014/main" id="{B6F33FAB-B981-EEB0-0FC8-262339AB67C2}"/>
              </a:ext>
            </a:extLst>
          </p:cNvPr>
          <p:cNvSpPr>
            <a:spLocks noGrp="1"/>
          </p:cNvSpPr>
          <p:nvPr>
            <p:ph type="ftr" sz="quarter" idx="11"/>
          </p:nvPr>
        </p:nvSpPr>
        <p:spPr/>
        <p:txBody>
          <a:bodyPr/>
          <a:lstStyle/>
          <a:p>
            <a:r>
              <a:rPr lang="en-US"/>
              <a:t>Footer Text</a:t>
            </a:r>
            <a:endParaRPr lang="en-US" dirty="0"/>
          </a:p>
        </p:txBody>
      </p:sp>
      <p:sp>
        <p:nvSpPr>
          <p:cNvPr id="5" name="Slide Number Placeholder 4">
            <a:extLst>
              <a:ext uri="{FF2B5EF4-FFF2-40B4-BE49-F238E27FC236}">
                <a16:creationId xmlns:a16="http://schemas.microsoft.com/office/drawing/2014/main" id="{E12BF979-2264-F199-3413-22621B1E5080}"/>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3600281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4B00C6-EFD1-3BC8-DC3A-B0B26327DCD6}"/>
              </a:ext>
            </a:extLst>
          </p:cNvPr>
          <p:cNvSpPr>
            <a:spLocks noGrp="1"/>
          </p:cNvSpPr>
          <p:nvPr>
            <p:ph type="dt" sz="half" idx="10"/>
          </p:nvPr>
        </p:nvSpPr>
        <p:spPr/>
        <p:txBody>
          <a:bodyPr/>
          <a:lstStyle/>
          <a:p>
            <a:fld id="{18A4B20A-718A-4149-B5D2-676E857EB828}" type="datetime1">
              <a:rPr lang="en-US" smtClean="0"/>
              <a:t>9/22/25</a:t>
            </a:fld>
            <a:endParaRPr lang="en-US"/>
          </a:p>
        </p:txBody>
      </p:sp>
      <p:sp>
        <p:nvSpPr>
          <p:cNvPr id="3" name="Footer Placeholder 2">
            <a:extLst>
              <a:ext uri="{FF2B5EF4-FFF2-40B4-BE49-F238E27FC236}">
                <a16:creationId xmlns:a16="http://schemas.microsoft.com/office/drawing/2014/main" id="{4DAAB392-FE4A-2989-D447-90465EE075AE}"/>
              </a:ext>
            </a:extLst>
          </p:cNvPr>
          <p:cNvSpPr>
            <a:spLocks noGrp="1"/>
          </p:cNvSpPr>
          <p:nvPr>
            <p:ph type="ftr" sz="quarter" idx="11"/>
          </p:nvPr>
        </p:nvSpPr>
        <p:spPr/>
        <p:txBody>
          <a:bodyPr/>
          <a:lstStyle/>
          <a:p>
            <a:r>
              <a:rPr lang="en-US"/>
              <a:t>Footer Text</a:t>
            </a:r>
            <a:endParaRPr lang="en-US" dirty="0"/>
          </a:p>
        </p:txBody>
      </p:sp>
      <p:sp>
        <p:nvSpPr>
          <p:cNvPr id="4" name="Slide Number Placeholder 3">
            <a:extLst>
              <a:ext uri="{FF2B5EF4-FFF2-40B4-BE49-F238E27FC236}">
                <a16:creationId xmlns:a16="http://schemas.microsoft.com/office/drawing/2014/main" id="{B8B99091-4CDD-1871-02B1-CEF7CB500B44}"/>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2980891800"/>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6ED67-0654-358A-5139-8700484018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4EC988-99C9-09F3-4799-F5079D4797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55808D-C574-875C-1B1F-31CC674FF0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B86236-8ACE-650F-19BC-913CDCD4D9AC}"/>
              </a:ext>
            </a:extLst>
          </p:cNvPr>
          <p:cNvSpPr>
            <a:spLocks noGrp="1"/>
          </p:cNvSpPr>
          <p:nvPr>
            <p:ph type="dt" sz="half" idx="10"/>
          </p:nvPr>
        </p:nvSpPr>
        <p:spPr/>
        <p:txBody>
          <a:bodyPr/>
          <a:lstStyle/>
          <a:p>
            <a:fld id="{F550E5DF-8560-4E07-A403-19861023D638}" type="datetime1">
              <a:rPr lang="en-US" smtClean="0"/>
              <a:t>9/22/25</a:t>
            </a:fld>
            <a:endParaRPr lang="en-US"/>
          </a:p>
        </p:txBody>
      </p:sp>
      <p:sp>
        <p:nvSpPr>
          <p:cNvPr id="6" name="Footer Placeholder 5">
            <a:extLst>
              <a:ext uri="{FF2B5EF4-FFF2-40B4-BE49-F238E27FC236}">
                <a16:creationId xmlns:a16="http://schemas.microsoft.com/office/drawing/2014/main" id="{C43E7FCD-F2E2-F426-BA1E-585A4AA81ADB}"/>
              </a:ext>
            </a:extLst>
          </p:cNvPr>
          <p:cNvSpPr>
            <a:spLocks noGrp="1"/>
          </p:cNvSpPr>
          <p:nvPr>
            <p:ph type="ftr" sz="quarter" idx="11"/>
          </p:nvPr>
        </p:nvSpPr>
        <p:spPr/>
        <p:txBody>
          <a:bodyPr/>
          <a:lstStyle/>
          <a:p>
            <a:r>
              <a:rPr lang="en-US"/>
              <a:t>Footer Text</a:t>
            </a:r>
            <a:endParaRPr lang="en-US" dirty="0"/>
          </a:p>
        </p:txBody>
      </p:sp>
      <p:sp>
        <p:nvSpPr>
          <p:cNvPr id="7" name="Slide Number Placeholder 6">
            <a:extLst>
              <a:ext uri="{FF2B5EF4-FFF2-40B4-BE49-F238E27FC236}">
                <a16:creationId xmlns:a16="http://schemas.microsoft.com/office/drawing/2014/main" id="{B9CAA647-4905-FD36-EF68-74A2D7ACB198}"/>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2889481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7804C-450C-E06D-AEA0-FAD26FC1F8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2E5F230-1C20-2048-E0F6-C58A44048B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B243FA-4C0A-E3BD-8435-332217B785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723AAF-863D-FF64-5C7F-D5C856E78018}"/>
              </a:ext>
            </a:extLst>
          </p:cNvPr>
          <p:cNvSpPr>
            <a:spLocks noGrp="1"/>
          </p:cNvSpPr>
          <p:nvPr>
            <p:ph type="dt" sz="half" idx="10"/>
          </p:nvPr>
        </p:nvSpPr>
        <p:spPr/>
        <p:txBody>
          <a:bodyPr/>
          <a:lstStyle/>
          <a:p>
            <a:fld id="{18A4B20A-718A-4149-B5D2-676E857EB828}" type="datetime1">
              <a:rPr lang="en-US" smtClean="0"/>
              <a:t>9/22/25</a:t>
            </a:fld>
            <a:endParaRPr lang="en-US"/>
          </a:p>
        </p:txBody>
      </p:sp>
      <p:sp>
        <p:nvSpPr>
          <p:cNvPr id="6" name="Footer Placeholder 5">
            <a:extLst>
              <a:ext uri="{FF2B5EF4-FFF2-40B4-BE49-F238E27FC236}">
                <a16:creationId xmlns:a16="http://schemas.microsoft.com/office/drawing/2014/main" id="{2E754A58-DDA0-E254-4E5D-8A4BBC04C24F}"/>
              </a:ext>
            </a:extLst>
          </p:cNvPr>
          <p:cNvSpPr>
            <a:spLocks noGrp="1"/>
          </p:cNvSpPr>
          <p:nvPr>
            <p:ph type="ftr" sz="quarter" idx="11"/>
          </p:nvPr>
        </p:nvSpPr>
        <p:spPr/>
        <p:txBody>
          <a:bodyPr/>
          <a:lstStyle/>
          <a:p>
            <a:r>
              <a:rPr lang="en-US"/>
              <a:t>Footer Text</a:t>
            </a:r>
            <a:endParaRPr lang="en-US" dirty="0"/>
          </a:p>
        </p:txBody>
      </p:sp>
      <p:sp>
        <p:nvSpPr>
          <p:cNvPr id="7" name="Slide Number Placeholder 6">
            <a:extLst>
              <a:ext uri="{FF2B5EF4-FFF2-40B4-BE49-F238E27FC236}">
                <a16:creationId xmlns:a16="http://schemas.microsoft.com/office/drawing/2014/main" id="{EA823730-B02A-4848-0302-C3E5EA6E05BE}"/>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1649608147"/>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49A16-69C6-6089-70AE-4BFA9ACDB8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D1A1FD-9FFB-2F40-D6C6-AF3843398D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CCF426-8212-A973-1E7E-4D301BD25CDE}"/>
              </a:ext>
            </a:extLst>
          </p:cNvPr>
          <p:cNvSpPr>
            <a:spLocks noGrp="1"/>
          </p:cNvSpPr>
          <p:nvPr>
            <p:ph type="dt" sz="half" idx="10"/>
          </p:nvPr>
        </p:nvSpPr>
        <p:spPr/>
        <p:txBody>
          <a:bodyPr/>
          <a:lstStyle/>
          <a:p>
            <a:fld id="{18A4B20A-718A-4149-B5D2-676E857EB828}" type="datetime1">
              <a:rPr lang="en-US" smtClean="0"/>
              <a:t>9/22/25</a:t>
            </a:fld>
            <a:endParaRPr lang="en-US"/>
          </a:p>
        </p:txBody>
      </p:sp>
      <p:sp>
        <p:nvSpPr>
          <p:cNvPr id="5" name="Footer Placeholder 4">
            <a:extLst>
              <a:ext uri="{FF2B5EF4-FFF2-40B4-BE49-F238E27FC236}">
                <a16:creationId xmlns:a16="http://schemas.microsoft.com/office/drawing/2014/main" id="{E7C22523-9084-6563-EE7B-131DFA45E335}"/>
              </a:ext>
            </a:extLst>
          </p:cNvPr>
          <p:cNvSpPr>
            <a:spLocks noGrp="1"/>
          </p:cNvSpPr>
          <p:nvPr>
            <p:ph type="ftr" sz="quarter" idx="11"/>
          </p:nvPr>
        </p:nvSpPr>
        <p:spPr/>
        <p:txBody>
          <a:bodyPr/>
          <a:lstStyle/>
          <a:p>
            <a:r>
              <a:rPr lang="en-US"/>
              <a:t>Footer Text</a:t>
            </a:r>
            <a:endParaRPr lang="en-US" dirty="0"/>
          </a:p>
        </p:txBody>
      </p:sp>
      <p:sp>
        <p:nvSpPr>
          <p:cNvPr id="6" name="Slide Number Placeholder 5">
            <a:extLst>
              <a:ext uri="{FF2B5EF4-FFF2-40B4-BE49-F238E27FC236}">
                <a16:creationId xmlns:a16="http://schemas.microsoft.com/office/drawing/2014/main" id="{EF609896-350B-9E04-46BF-CD0C541F89A0}"/>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3259993615"/>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12FC6C-8F17-7A82-2E12-EFAE1AE7F8E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81D793B-CC00-53CD-4028-E6B679C984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EEA1CA-35CB-862E-F6E5-A77776E208BC}"/>
              </a:ext>
            </a:extLst>
          </p:cNvPr>
          <p:cNvSpPr>
            <a:spLocks noGrp="1"/>
          </p:cNvSpPr>
          <p:nvPr>
            <p:ph type="dt" sz="half" idx="10"/>
          </p:nvPr>
        </p:nvSpPr>
        <p:spPr/>
        <p:txBody>
          <a:bodyPr/>
          <a:lstStyle/>
          <a:p>
            <a:fld id="{18A4B20A-718A-4149-B5D2-676E857EB828}" type="datetime1">
              <a:rPr lang="en-US" smtClean="0"/>
              <a:t>9/22/25</a:t>
            </a:fld>
            <a:endParaRPr lang="en-US"/>
          </a:p>
        </p:txBody>
      </p:sp>
      <p:sp>
        <p:nvSpPr>
          <p:cNvPr id="5" name="Footer Placeholder 4">
            <a:extLst>
              <a:ext uri="{FF2B5EF4-FFF2-40B4-BE49-F238E27FC236}">
                <a16:creationId xmlns:a16="http://schemas.microsoft.com/office/drawing/2014/main" id="{3A797E5A-3D71-C6A7-DF01-7FE6252E04DF}"/>
              </a:ext>
            </a:extLst>
          </p:cNvPr>
          <p:cNvSpPr>
            <a:spLocks noGrp="1"/>
          </p:cNvSpPr>
          <p:nvPr>
            <p:ph type="ftr" sz="quarter" idx="11"/>
          </p:nvPr>
        </p:nvSpPr>
        <p:spPr/>
        <p:txBody>
          <a:bodyPr/>
          <a:lstStyle/>
          <a:p>
            <a:r>
              <a:rPr lang="en-US"/>
              <a:t>Footer Text</a:t>
            </a:r>
            <a:endParaRPr lang="en-US" dirty="0"/>
          </a:p>
        </p:txBody>
      </p:sp>
      <p:sp>
        <p:nvSpPr>
          <p:cNvPr id="6" name="Slide Number Placeholder 5">
            <a:extLst>
              <a:ext uri="{FF2B5EF4-FFF2-40B4-BE49-F238E27FC236}">
                <a16:creationId xmlns:a16="http://schemas.microsoft.com/office/drawing/2014/main" id="{792FC6E6-4F96-41C1-5B17-607393843A2E}"/>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3501701757"/>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dirty="0"/>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BD5D1244-0536-4076-95F8-65E3144966FF}" type="datetime1">
              <a:rPr lang="en-US" smtClean="0"/>
              <a:t>9/22/25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292499866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1_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r>
              <a:rPr lang="en-US" dirty="0"/>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CE994A23-0EFF-404D-A2C5-6B54939039AD}" type="datetime1">
              <a:rPr lang="en-US" smtClean="0"/>
              <a:t>9/22/25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929969652"/>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762002"/>
            <a:ext cx="5294939"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70F70C4A-BA92-6BFC-3B1F-307DC253CC2B}"/>
              </a:ext>
            </a:extLst>
          </p:cNvPr>
          <p:cNvSpPr>
            <a:spLocks noGrp="1"/>
          </p:cNvSpPr>
          <p:nvPr>
            <p:ph type="ftr" sz="quarter" idx="15"/>
          </p:nvPr>
        </p:nvSpPr>
        <p:spPr/>
        <p:txBody>
          <a:bodyPr/>
          <a:lstStyle/>
          <a:p>
            <a:r>
              <a:rPr lang="en-US" dirty="0"/>
              <a:t>Footer Text</a:t>
            </a:r>
          </a:p>
        </p:txBody>
      </p:sp>
      <p:sp>
        <p:nvSpPr>
          <p:cNvPr id="8" name="Date Placeholder 7">
            <a:extLst>
              <a:ext uri="{FF2B5EF4-FFF2-40B4-BE49-F238E27FC236}">
                <a16:creationId xmlns:a16="http://schemas.microsoft.com/office/drawing/2014/main" id="{E2862A36-3103-C394-ACDE-9712D22EC1E9}"/>
              </a:ext>
            </a:extLst>
          </p:cNvPr>
          <p:cNvSpPr>
            <a:spLocks noGrp="1"/>
          </p:cNvSpPr>
          <p:nvPr>
            <p:ph type="dt" sz="half" idx="14"/>
          </p:nvPr>
        </p:nvSpPr>
        <p:spPr>
          <a:xfrm>
            <a:off x="6340642" y="207982"/>
            <a:ext cx="1921315" cy="413360"/>
          </a:xfrm>
        </p:spPr>
        <p:txBody>
          <a:bodyPr/>
          <a:lstStyle/>
          <a:p>
            <a:fld id="{025BF5DA-9B72-4C47-B5EF-1EED5B08EE79}" type="datetime1">
              <a:rPr lang="en-US" smtClean="0"/>
              <a:t>9/22/25</a:t>
            </a:fld>
            <a:endParaRPr lang="en-US"/>
          </a:p>
        </p:txBody>
      </p:sp>
      <p:sp>
        <p:nvSpPr>
          <p:cNvPr id="11" name="Slide Number Placeholder 10">
            <a:extLst>
              <a:ext uri="{FF2B5EF4-FFF2-40B4-BE49-F238E27FC236}">
                <a16:creationId xmlns:a16="http://schemas.microsoft.com/office/drawing/2014/main" id="{E054C547-CF4F-67F9-FBC5-A0BE282578D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2442689"/>
            <a:ext cx="5875421"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6340642" y="762000"/>
            <a:ext cx="5432239"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341471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491FA625-EDE8-4CCD-93F2-36B8EAED6AA1}" type="datetime1">
              <a:rPr lang="en-US" smtClean="0"/>
              <a:t>9/22/25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248859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r>
              <a:rPr lang="en-US" dirty="0"/>
              <a:t>Footer Text</a:t>
            </a:r>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5824A7B9-17B9-4425-9158-739F678A55EB}" type="datetime1">
              <a:rPr lang="en-US" smtClean="0"/>
              <a:t>9/22/25</a:t>
            </a:fld>
            <a:endParaRPr lang="en-US" dirty="0"/>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132337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r>
              <a:rPr lang="en-US" dirty="0"/>
              <a:t>Footer Text</a:t>
            </a:r>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28E8FF4C-7F6A-4962-9270-F797B8959287}" type="datetime1">
              <a:rPr lang="en-US" smtClean="0"/>
              <a:t>9/22/25</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3001498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r>
              <a:rPr lang="en-US" dirty="0"/>
              <a:t>Footer Text</a:t>
            </a:r>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B340F08F-40FA-4D3B-96CF-F8FAF483E9A7}" type="datetime1">
              <a:rPr lang="en-US" smtClean="0"/>
              <a:t>9/22/25</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464763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064F86E1-145A-4683-AD05-97E7E41B4995}" type="datetime1">
              <a:rPr lang="en-US" smtClean="0"/>
              <a:t>9/22/25</a:t>
            </a:fld>
            <a:endParaRPr lang="en-US" dirty="0"/>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753D0FD4-819D-4187-8797-C35567B41C78}" type="slidenum">
              <a:rPr lang="en-US" smtClean="0"/>
              <a:t>‹#›</a:t>
            </a:fld>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193076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670308" y="853949"/>
            <a:ext cx="4102574" cy="151607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1" y="0"/>
            <a:ext cx="7285976"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7670308" y="213482"/>
            <a:ext cx="2129674" cy="411480"/>
          </a:xfrm>
        </p:spPr>
        <p:txBody>
          <a:bodyPr/>
          <a:lstStyle/>
          <a:p>
            <a:r>
              <a:rPr lang="en-US" dirty="0"/>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930367" y="210312"/>
            <a:ext cx="1216834" cy="411480"/>
          </a:xfrm>
        </p:spPr>
        <p:txBody>
          <a:bodyPr/>
          <a:lstStyle/>
          <a:p>
            <a:fld id="{3E021DF1-F92E-444A-9AEF-304BD60FF6DA}" type="datetime1">
              <a:rPr lang="en-US" smtClean="0"/>
              <a:t>9/22/25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26453" y="210312"/>
            <a:ext cx="679998"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70308" y="2578607"/>
            <a:ext cx="4102585"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40095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BA76DE-3960-34C2-CF46-9F545D3C88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512794-D3C1-BD6B-FF30-B271EB0CE9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21930-42FF-8278-41C9-DB9645B10E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A4B20A-718A-4149-B5D2-676E857EB828}" type="datetime1">
              <a:rPr lang="en-US" smtClean="0"/>
              <a:t>9/22/25</a:t>
            </a:fld>
            <a:endParaRPr lang="en-US"/>
          </a:p>
        </p:txBody>
      </p:sp>
      <p:sp>
        <p:nvSpPr>
          <p:cNvPr id="5" name="Footer Placeholder 4">
            <a:extLst>
              <a:ext uri="{FF2B5EF4-FFF2-40B4-BE49-F238E27FC236}">
                <a16:creationId xmlns:a16="http://schemas.microsoft.com/office/drawing/2014/main" id="{AF5E0E4F-9D95-F04B-DA25-81A680740F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Footer Text</a:t>
            </a:r>
            <a:endParaRPr lang="en-US" dirty="0"/>
          </a:p>
        </p:txBody>
      </p:sp>
      <p:sp>
        <p:nvSpPr>
          <p:cNvPr id="6" name="Slide Number Placeholder 5">
            <a:extLst>
              <a:ext uri="{FF2B5EF4-FFF2-40B4-BE49-F238E27FC236}">
                <a16:creationId xmlns:a16="http://schemas.microsoft.com/office/drawing/2014/main" id="{08F88F32-3E26-B510-9776-B27B5F4C5D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950868404"/>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 id="2147483763" r:id="rId17"/>
    <p:sldLayoutId id="2147483764" r:id="rId18"/>
    <p:sldLayoutId id="2147483765" r:id="rId19"/>
    <p:sldLayoutId id="2147483766" r:id="rId20"/>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Placeholder 7" descr="DNA code on large LED screen">
            <a:extLst>
              <a:ext uri="{FF2B5EF4-FFF2-40B4-BE49-F238E27FC236}">
                <a16:creationId xmlns:a16="http://schemas.microsoft.com/office/drawing/2014/main" id="{D8406DC2-70AE-4E58-9EB3-D7734BF92587}"/>
              </a:ext>
            </a:extLst>
          </p:cNvPr>
          <p:cNvPicPr>
            <a:picLocks noGrp="1" noChangeAspect="1"/>
          </p:cNvPicPr>
          <p:nvPr>
            <p:ph type="pic" sz="quarter" idx="13"/>
          </p:nvPr>
        </p:nvPicPr>
        <p:blipFill>
          <a:blip r:embed="rId3"/>
          <a:srcRect r="23298" b="9091"/>
          <a:stretch>
            <a:fillRect/>
          </a:stretch>
        </p:blipFill>
        <p:spPr>
          <a:xfrm>
            <a:off x="3523488" y="10"/>
            <a:ext cx="8668512" cy="6857990"/>
          </a:xfrm>
          <a:prstGeom prst="rect">
            <a:avLst/>
          </a:prstGeom>
          <a:noFill/>
        </p:spPr>
      </p:pic>
      <p:sp>
        <p:nvSpPr>
          <p:cNvPr id="11" name="Rectangle 1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C9F382A-26BF-9853-5204-4BF4CD41DC22}"/>
              </a:ext>
            </a:extLst>
          </p:cNvPr>
          <p:cNvSpPr>
            <a:spLocks noGrp="1"/>
          </p:cNvSpPr>
          <p:nvPr>
            <p:ph type="ctrTitle"/>
          </p:nvPr>
        </p:nvSpPr>
        <p:spPr>
          <a:xfrm>
            <a:off x="477981" y="1122363"/>
            <a:ext cx="4023360" cy="3204134"/>
          </a:xfrm>
        </p:spPr>
        <p:txBody>
          <a:bodyPr vert="horz" lIns="91440" tIns="45720" rIns="91440" bIns="45720" rtlCol="0" anchor="b">
            <a:normAutofit/>
          </a:bodyPr>
          <a:lstStyle/>
          <a:p>
            <a:r>
              <a:rPr lang="en-US" sz="4800"/>
              <a:t>NumPy: NumericaL PYTHON</a:t>
            </a:r>
          </a:p>
        </p:txBody>
      </p:sp>
      <p:sp>
        <p:nvSpPr>
          <p:cNvPr id="3" name="Subtitle 2">
            <a:extLst>
              <a:ext uri="{FF2B5EF4-FFF2-40B4-BE49-F238E27FC236}">
                <a16:creationId xmlns:a16="http://schemas.microsoft.com/office/drawing/2014/main" id="{0F61CC96-3232-6EC8-C9FC-6F564ADF724C}"/>
              </a:ext>
            </a:extLst>
          </p:cNvPr>
          <p:cNvSpPr>
            <a:spLocks noGrp="1"/>
          </p:cNvSpPr>
          <p:nvPr>
            <p:ph type="subTitle" idx="1"/>
          </p:nvPr>
        </p:nvSpPr>
        <p:spPr>
          <a:xfrm>
            <a:off x="477980" y="4872922"/>
            <a:ext cx="4023359" cy="1208141"/>
          </a:xfrm>
        </p:spPr>
        <p:txBody>
          <a:bodyPr vert="horz" lIns="91440" tIns="45720" rIns="91440" bIns="45720" rtlCol="0">
            <a:normAutofit/>
          </a:bodyPr>
          <a:lstStyle/>
          <a:p>
            <a:r>
              <a:rPr lang="en-US" sz="2000"/>
              <a:t>Introduction to essential numerical computing concepts</a:t>
            </a:r>
          </a:p>
        </p:txBody>
      </p:sp>
      <p:sp>
        <p:nvSpPr>
          <p:cNvPr id="17" name="Rectangle 1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Date Placeholder 5">
            <a:extLst>
              <a:ext uri="{FF2B5EF4-FFF2-40B4-BE49-F238E27FC236}">
                <a16:creationId xmlns:a16="http://schemas.microsoft.com/office/drawing/2014/main" id="{5EC042FB-D074-189F-5F79-B6AC1106E7B5}"/>
              </a:ext>
            </a:extLst>
          </p:cNvPr>
          <p:cNvSpPr>
            <a:spLocks noGrp="1"/>
          </p:cNvSpPr>
          <p:nvPr>
            <p:ph type="dt" sz="half" idx="10"/>
          </p:nvPr>
        </p:nvSpPr>
        <p:spPr>
          <a:xfrm>
            <a:off x="477981" y="6356350"/>
            <a:ext cx="1214339" cy="365125"/>
          </a:xfrm>
        </p:spPr>
        <p:txBody>
          <a:bodyPr vert="horz" lIns="91440" tIns="45720" rIns="91440" bIns="45720" rtlCol="0" anchor="ctr">
            <a:normAutofit/>
          </a:bodyPr>
          <a:lstStyle/>
          <a:p>
            <a:pPr>
              <a:spcAft>
                <a:spcPts val="600"/>
              </a:spcAft>
              <a:defRPr/>
            </a:pPr>
            <a:fld id="{BBB8170F-0370-4A38-8BF3-83D69476AE62}" type="datetime1">
              <a:rPr lang="en-US">
                <a:solidFill>
                  <a:schemeClr val="tx1">
                    <a:lumMod val="50000"/>
                    <a:lumOff val="50000"/>
                  </a:schemeClr>
                </a:solidFill>
                <a:effectLst/>
                <a:latin typeface="Calibri" panose="020F0502020204030204"/>
              </a:rPr>
              <a:pPr>
                <a:spcAft>
                  <a:spcPts val="600"/>
                </a:spcAft>
                <a:defRPr/>
              </a:pPr>
              <a:t>9/22/25</a:t>
            </a:fld>
            <a:endParaRPr lang="en-US">
              <a:solidFill>
                <a:schemeClr val="tx1">
                  <a:lumMod val="50000"/>
                  <a:lumOff val="50000"/>
                </a:schemeClr>
              </a:solidFill>
              <a:effectLst/>
              <a:latin typeface="Calibri" panose="020F0502020204030204"/>
            </a:endParaRPr>
          </a:p>
        </p:txBody>
      </p:sp>
      <p:sp>
        <p:nvSpPr>
          <p:cNvPr id="4" name="Footer Placeholder 3">
            <a:extLst>
              <a:ext uri="{FF2B5EF4-FFF2-40B4-BE49-F238E27FC236}">
                <a16:creationId xmlns:a16="http://schemas.microsoft.com/office/drawing/2014/main" id="{F234186D-3EC9-2DDC-668C-34BEB5426A89}"/>
              </a:ext>
            </a:extLst>
          </p:cNvPr>
          <p:cNvSpPr>
            <a:spLocks noGrp="1"/>
          </p:cNvSpPr>
          <p:nvPr>
            <p:ph type="ftr" sz="quarter" idx="11"/>
          </p:nvPr>
        </p:nvSpPr>
        <p:spPr>
          <a:xfrm>
            <a:off x="1692321" y="6356350"/>
            <a:ext cx="2809017" cy="365125"/>
          </a:xfrm>
        </p:spPr>
        <p:txBody>
          <a:bodyPr vert="horz" lIns="91440" tIns="45720" rIns="91440" bIns="45720" rtlCol="0" anchor="ctr">
            <a:normAutofit/>
          </a:bodyPr>
          <a:lstStyle/>
          <a:p>
            <a:pPr algn="r">
              <a:spcAft>
                <a:spcPts val="600"/>
              </a:spcAft>
              <a:defRPr/>
            </a:pPr>
            <a:r>
              <a:rPr lang="en-US" kern="1200">
                <a:solidFill>
                  <a:schemeClr val="tx1">
                    <a:lumMod val="50000"/>
                    <a:lumOff val="50000"/>
                  </a:schemeClr>
                </a:solidFill>
                <a:effectLst/>
                <a:latin typeface="Calibri" panose="020F0502020204030204"/>
                <a:ea typeface="+mn-ea"/>
                <a:cs typeface="+mn-cs"/>
              </a:rPr>
              <a:t>Footer Text</a:t>
            </a:r>
          </a:p>
        </p:txBody>
      </p:sp>
      <p:sp>
        <p:nvSpPr>
          <p:cNvPr id="7" name="Slide Number Placeholder 6">
            <a:extLst>
              <a:ext uri="{FF2B5EF4-FFF2-40B4-BE49-F238E27FC236}">
                <a16:creationId xmlns:a16="http://schemas.microsoft.com/office/drawing/2014/main" id="{B3C5F5F8-D08C-C5F1-2D8D-05021D2C6EF2}"/>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753D0FD4-819D-4187-8797-C35567B41C78}" type="slidenum">
              <a:rPr lang="en-US">
                <a:solidFill>
                  <a:schemeClr val="bg1"/>
                </a:solidFill>
                <a:effectLst/>
                <a:latin typeface="Calibri" panose="020F0502020204030204"/>
              </a:rPr>
              <a:pPr>
                <a:spcAft>
                  <a:spcPts val="600"/>
                </a:spcAft>
                <a:defRPr/>
              </a:pPr>
              <a:t>1</a:t>
            </a:fld>
            <a:endParaRPr lang="en-US">
              <a:solidFill>
                <a:schemeClr val="bg1"/>
              </a:solidFill>
              <a:effectLst/>
              <a:latin typeface="Calibri" panose="020F0502020204030204"/>
            </a:endParaRPr>
          </a:p>
        </p:txBody>
      </p:sp>
    </p:spTree>
    <p:extLst>
      <p:ext uri="{BB962C8B-B14F-4D97-AF65-F5344CB8AC3E}">
        <p14:creationId xmlns:p14="http://schemas.microsoft.com/office/powerpoint/2010/main" val="1347065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E8AE05-8C45-E0F2-B937-2031BAD70ADC}"/>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a:t>Overview of NumPy</a:t>
            </a:r>
          </a:p>
        </p:txBody>
      </p:sp>
      <p:sp>
        <p:nvSpPr>
          <p:cNvPr id="16"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C78B7118-43B7-C9A4-98A0-54AC43F94C5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119172"/>
          </a:xfrm>
        </p:spPr>
        <p:txBody>
          <a:bodyPr>
            <a:normAutofit/>
          </a:bodyPr>
          <a:lstStyle/>
          <a:p>
            <a:pPr marL="0" indent="0">
              <a:spcBef>
                <a:spcPts val="2500"/>
              </a:spcBef>
              <a:buFont typeface="Arial" panose="020B0604020202020204" pitchFamily="34" charset="0"/>
              <a:buNone/>
            </a:pPr>
            <a:r>
              <a:rPr lang="en-US" sz="1400" b="1"/>
              <a:t>Multi-dimensional Arrays</a:t>
            </a:r>
          </a:p>
          <a:p>
            <a:pPr marL="0" lvl="1" indent="0">
              <a:buFont typeface="Arial" panose="020B0604020202020204" pitchFamily="34" charset="0"/>
              <a:buNone/>
            </a:pPr>
            <a:r>
              <a:rPr lang="en-US" sz="1400"/>
              <a:t>NumPy provides support for large, multi-dimensional arrays and matrices essential for scientific computing.</a:t>
            </a:r>
          </a:p>
          <a:p>
            <a:pPr marL="0" indent="0">
              <a:spcBef>
                <a:spcPts val="2500"/>
              </a:spcBef>
              <a:buFont typeface="Arial" panose="020B0604020202020204" pitchFamily="34" charset="0"/>
              <a:buNone/>
            </a:pPr>
            <a:r>
              <a:rPr lang="en-US" sz="1400" b="1"/>
              <a:t>Mathematical Functions</a:t>
            </a:r>
          </a:p>
          <a:p>
            <a:pPr marL="0" lvl="1" indent="0">
              <a:buFont typeface="Arial" panose="020B0604020202020204" pitchFamily="34" charset="0"/>
              <a:buNone/>
            </a:pPr>
            <a:r>
              <a:rPr lang="en-US" sz="1400"/>
              <a:t>NumPy includes a collection of mathematical functions optimized to operate efficiently on arrays.</a:t>
            </a:r>
          </a:p>
          <a:p>
            <a:pPr marL="0" indent="0">
              <a:spcBef>
                <a:spcPts val="2500"/>
              </a:spcBef>
              <a:buFont typeface="Arial" panose="020B0604020202020204" pitchFamily="34" charset="0"/>
              <a:buNone/>
            </a:pPr>
            <a:r>
              <a:rPr lang="en-US" sz="1400" b="1"/>
              <a:t>Efficiency and Performance</a:t>
            </a:r>
          </a:p>
          <a:p>
            <a:pPr marL="0" lvl="1" indent="0">
              <a:buFont typeface="Arial" panose="020B0604020202020204" pitchFamily="34" charset="0"/>
              <a:buNone/>
            </a:pPr>
            <a:r>
              <a:rPr lang="en-US" sz="1400"/>
              <a:t>Implemented in C, NumPy arrays are more efficient than Python lists for numerical operations.</a:t>
            </a:r>
          </a:p>
          <a:p>
            <a:pPr marL="0" indent="0">
              <a:spcBef>
                <a:spcPts val="2500"/>
              </a:spcBef>
              <a:buFont typeface="Arial" panose="020B0604020202020204" pitchFamily="34" charset="0"/>
              <a:buNone/>
            </a:pPr>
            <a:r>
              <a:rPr lang="en-US" sz="1400" b="1"/>
              <a:t>Scientific Ecosystem</a:t>
            </a:r>
          </a:p>
          <a:p>
            <a:pPr marL="0" lvl="1" indent="0">
              <a:buFont typeface="Arial" panose="020B0604020202020204" pitchFamily="34" charset="0"/>
              <a:buNone/>
            </a:pPr>
            <a:r>
              <a:rPr lang="en-US" sz="1400"/>
              <a:t>NumPy is foundational in the scientific Python ecosystem and widely used by libraries like Pandas and SciPy.</a:t>
            </a:r>
            <a:endParaRPr lang="en-US" sz="1400" dirty="0"/>
          </a:p>
        </p:txBody>
      </p:sp>
      <p:pic>
        <p:nvPicPr>
          <p:cNvPr id="8" name="Content Placeholder 7" descr="digital technology concept">
            <a:extLst>
              <a:ext uri="{FF2B5EF4-FFF2-40B4-BE49-F238E27FC236}">
                <a16:creationId xmlns:a16="http://schemas.microsoft.com/office/drawing/2014/main" id="{5A3912D2-BF3E-496D-8E1F-5CE0113D7DA0}"/>
              </a:ext>
            </a:extLst>
          </p:cNvPr>
          <p:cNvPicPr>
            <a:picLocks noGrp="1" noChangeAspect="1"/>
          </p:cNvPicPr>
          <p:nvPr>
            <p:ph type="pic" sz="quarter" idx="13"/>
          </p:nvPr>
        </p:nvPicPr>
        <p:blipFill>
          <a:blip r:embed="rId3"/>
          <a:srcRect l="7092" r="38793" b="2"/>
          <a:stretch>
            <a:fillRect/>
          </a:stretch>
        </p:blipFill>
        <p:spPr>
          <a:xfrm>
            <a:off x="7675658" y="2093976"/>
            <a:ext cx="3941064" cy="4096512"/>
          </a:xfrm>
          <a:prstGeom prst="rect">
            <a:avLst/>
          </a:prstGeom>
          <a:noFill/>
        </p:spPr>
      </p:pic>
      <p:sp>
        <p:nvSpPr>
          <p:cNvPr id="4" name="Date Placeholder 3">
            <a:extLst>
              <a:ext uri="{FF2B5EF4-FFF2-40B4-BE49-F238E27FC236}">
                <a16:creationId xmlns:a16="http://schemas.microsoft.com/office/drawing/2014/main" id="{FE7D6257-A4F3-5632-782A-3917648A5157}"/>
              </a:ext>
            </a:extLst>
          </p:cNvPr>
          <p:cNvSpPr>
            <a:spLocks noGrp="1"/>
          </p:cNvSpPr>
          <p:nvPr>
            <p:ph type="dt" sz="half" idx="14"/>
          </p:nvPr>
        </p:nvSpPr>
        <p:spPr>
          <a:xfrm>
            <a:off x="838200" y="6356350"/>
            <a:ext cx="2743200" cy="365125"/>
          </a:xfrm>
        </p:spPr>
        <p:txBody>
          <a:bodyPr vert="horz" lIns="91440" tIns="45720" rIns="91440" bIns="45720" rtlCol="0" anchor="ctr">
            <a:normAutofit/>
          </a:bodyPr>
          <a:lstStyle/>
          <a:p>
            <a:pPr>
              <a:spcAft>
                <a:spcPts val="600"/>
              </a:spcAft>
              <a:defRPr/>
            </a:pPr>
            <a:fld id="{9EAD527F-9C49-4481-A18C-80BA2EA99E79}" type="datetime1">
              <a:rPr lang="en-US" smtClean="0">
                <a:solidFill>
                  <a:prstClr val="black">
                    <a:tint val="75000"/>
                  </a:prstClr>
                </a:solidFill>
                <a:latin typeface="Calibri" panose="020F0502020204030204"/>
              </a:rPr>
              <a:pPr>
                <a:spcAft>
                  <a:spcPts val="600"/>
                </a:spcAft>
                <a:defRPr/>
              </a:pPr>
              <a:t>9/22/25</a:t>
            </a:fld>
            <a:endParaRPr lang="en-US">
              <a:solidFill>
                <a:prstClr val="black">
                  <a:tint val="75000"/>
                </a:prstClr>
              </a:solidFill>
              <a:latin typeface="Calibri" panose="020F0502020204030204"/>
            </a:endParaRPr>
          </a:p>
        </p:txBody>
      </p:sp>
      <p:sp>
        <p:nvSpPr>
          <p:cNvPr id="3" name="Footer Placeholder 2">
            <a:extLst>
              <a:ext uri="{FF2B5EF4-FFF2-40B4-BE49-F238E27FC236}">
                <a16:creationId xmlns:a16="http://schemas.microsoft.com/office/drawing/2014/main" id="{15FF9B9F-D1B1-EB7A-4035-1DBEA78509BF}"/>
              </a:ext>
            </a:extLst>
          </p:cNvPr>
          <p:cNvSpPr>
            <a:spLocks noGrp="1"/>
          </p:cNvSpPr>
          <p:nvPr>
            <p:ph type="ftr" sz="quarter" idx="15"/>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prstClr val="black">
                    <a:tint val="75000"/>
                  </a:prstClr>
                </a:solidFill>
                <a:latin typeface="Calibri" panose="020F0502020204030204"/>
                <a:ea typeface="+mn-ea"/>
                <a:cs typeface="+mn-cs"/>
              </a:rPr>
              <a:t>Footer Text</a:t>
            </a:r>
          </a:p>
        </p:txBody>
      </p:sp>
      <p:sp>
        <p:nvSpPr>
          <p:cNvPr id="5" name="Slide Number Placeholder 4">
            <a:extLst>
              <a:ext uri="{FF2B5EF4-FFF2-40B4-BE49-F238E27FC236}">
                <a16:creationId xmlns:a16="http://schemas.microsoft.com/office/drawing/2014/main" id="{E3DED57A-7117-6BDB-9B69-C77C1DDBB9CD}"/>
              </a:ext>
            </a:extLst>
          </p:cNvPr>
          <p:cNvSpPr>
            <a:spLocks noGrp="1"/>
          </p:cNvSpPr>
          <p:nvPr>
            <p:ph type="sldNum" sz="quarter" idx="16"/>
          </p:nvPr>
        </p:nvSpPr>
        <p:spPr>
          <a:xfrm>
            <a:off x="8610600" y="6356350"/>
            <a:ext cx="2743200" cy="365125"/>
          </a:xfrm>
        </p:spPr>
        <p:txBody>
          <a:bodyPr vert="horz" lIns="91440" tIns="45720" rIns="91440" bIns="45720" rtlCol="0" anchor="ctr">
            <a:normAutofit/>
          </a:bodyPr>
          <a:lstStyle/>
          <a:p>
            <a:pPr>
              <a:spcAft>
                <a:spcPts val="600"/>
              </a:spcAft>
              <a:defRPr/>
            </a:pPr>
            <a:fld id="{753D0FD4-819D-4187-8797-C35567B41C78}" type="slidenum">
              <a:rPr lang="en-US">
                <a:solidFill>
                  <a:prstClr val="black">
                    <a:tint val="75000"/>
                  </a:prstClr>
                </a:solidFill>
                <a:latin typeface="Calibri" panose="020F0502020204030204"/>
              </a:rPr>
              <a:pPr>
                <a:spcAft>
                  <a:spcPts val="600"/>
                </a:spcAft>
                <a:defRPr/>
              </a:pPr>
              <a:t>2</a:t>
            </a:fld>
            <a:endParaRPr lang="en-US" dirty="0">
              <a:solidFill>
                <a:prstClr val="black">
                  <a:tint val="75000"/>
                </a:prstClr>
              </a:solidFill>
              <a:latin typeface="Calibri" panose="020F0502020204030204"/>
            </a:endParaRPr>
          </a:p>
        </p:txBody>
      </p:sp>
    </p:spTree>
    <p:extLst>
      <p:ext uri="{BB962C8B-B14F-4D97-AF65-F5344CB8AC3E}">
        <p14:creationId xmlns:p14="http://schemas.microsoft.com/office/powerpoint/2010/main" val="14040320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Placeholder 7" descr="DNA code on large LED screen">
            <a:extLst>
              <a:ext uri="{FF2B5EF4-FFF2-40B4-BE49-F238E27FC236}">
                <a16:creationId xmlns:a16="http://schemas.microsoft.com/office/drawing/2014/main" id="{E31DBB0A-0BE0-C926-BF75-37C9029BF36E}"/>
              </a:ext>
            </a:extLst>
          </p:cNvPr>
          <p:cNvPicPr>
            <a:picLocks noChangeAspect="1"/>
          </p:cNvPicPr>
          <p:nvPr/>
        </p:nvPicPr>
        <p:blipFill>
          <a:blip r:embed="rId3"/>
          <a:srcRect r="23298" b="9091"/>
          <a:stretch>
            <a:fillRect/>
          </a:stretch>
        </p:blipFill>
        <p:spPr>
          <a:xfrm>
            <a:off x="3523488" y="10"/>
            <a:ext cx="8668512" cy="6857990"/>
          </a:xfrm>
          <a:prstGeom prst="rect">
            <a:avLst/>
          </a:prstGeom>
          <a:noFill/>
        </p:spPr>
      </p:pic>
      <p:sp>
        <p:nvSpPr>
          <p:cNvPr id="10" name="Rectangle 9">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082E150-C171-CA0F-7FD1-25AE68423D88}"/>
              </a:ext>
            </a:extLst>
          </p:cNvPr>
          <p:cNvSpPr>
            <a:spLocks noGrp="1"/>
          </p:cNvSpPr>
          <p:nvPr>
            <p:ph type="title"/>
          </p:nvPr>
        </p:nvSpPr>
        <p:spPr>
          <a:xfrm>
            <a:off x="477981" y="1122363"/>
            <a:ext cx="4023360" cy="3204134"/>
          </a:xfrm>
        </p:spPr>
        <p:txBody>
          <a:bodyPr vert="horz" lIns="91440" tIns="45720" rIns="91440" bIns="45720" rtlCol="0" anchor="b">
            <a:normAutofit/>
          </a:bodyPr>
          <a:lstStyle/>
          <a:p>
            <a:pPr>
              <a:lnSpc>
                <a:spcPct val="90000"/>
              </a:lnSpc>
            </a:pPr>
            <a:r>
              <a:rPr lang="en-US" sz="4800">
                <a:solidFill>
                  <a:schemeClr val="tx1"/>
                </a:solidFill>
              </a:rPr>
              <a:t>Getting Started with NumPy</a:t>
            </a:r>
          </a:p>
        </p:txBody>
      </p:sp>
      <p:sp>
        <p:nvSpPr>
          <p:cNvPr id="16" name="Rectangle 15">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Date Placeholder 5">
            <a:extLst>
              <a:ext uri="{FF2B5EF4-FFF2-40B4-BE49-F238E27FC236}">
                <a16:creationId xmlns:a16="http://schemas.microsoft.com/office/drawing/2014/main" id="{A9933C69-9F16-667E-DA24-502357DCF966}"/>
              </a:ext>
            </a:extLst>
          </p:cNvPr>
          <p:cNvSpPr>
            <a:spLocks noGrp="1"/>
          </p:cNvSpPr>
          <p:nvPr>
            <p:ph type="dt" sz="half" idx="10"/>
          </p:nvPr>
        </p:nvSpPr>
        <p:spPr>
          <a:xfrm>
            <a:off x="477981" y="6356350"/>
            <a:ext cx="1214339" cy="365125"/>
          </a:xfrm>
        </p:spPr>
        <p:txBody>
          <a:bodyPr vert="horz" lIns="91440" tIns="45720" rIns="91440" bIns="45720" rtlCol="0" anchor="ctr">
            <a:normAutofit/>
          </a:bodyPr>
          <a:lstStyle/>
          <a:p>
            <a:pPr>
              <a:spcAft>
                <a:spcPts val="600"/>
              </a:spcAft>
              <a:defRPr/>
            </a:pPr>
            <a:fld id="{BBB8170F-0370-4A38-8BF3-83D69476AE62}" type="datetime1">
              <a:rPr lang="en-US">
                <a:solidFill>
                  <a:schemeClr val="tx1">
                    <a:lumMod val="50000"/>
                    <a:lumOff val="50000"/>
                  </a:schemeClr>
                </a:solidFill>
                <a:latin typeface="Calibri" panose="020F0502020204030204"/>
              </a:rPr>
              <a:pPr>
                <a:spcAft>
                  <a:spcPts val="600"/>
                </a:spcAft>
                <a:defRPr/>
              </a:pPr>
              <a:t>9/22/25</a:t>
            </a:fld>
            <a:endParaRPr lang="en-US">
              <a:solidFill>
                <a:schemeClr val="tx1">
                  <a:lumMod val="50000"/>
                  <a:lumOff val="50000"/>
                </a:schemeClr>
              </a:solidFill>
              <a:latin typeface="Calibri" panose="020F0502020204030204"/>
            </a:endParaRPr>
          </a:p>
        </p:txBody>
      </p:sp>
      <p:sp>
        <p:nvSpPr>
          <p:cNvPr id="4" name="Footer Placeholder 3">
            <a:extLst>
              <a:ext uri="{FF2B5EF4-FFF2-40B4-BE49-F238E27FC236}">
                <a16:creationId xmlns:a16="http://schemas.microsoft.com/office/drawing/2014/main" id="{14A94CD8-9FF7-2998-5B9A-2B2A6BC69E8F}"/>
              </a:ext>
            </a:extLst>
          </p:cNvPr>
          <p:cNvSpPr>
            <a:spLocks noGrp="1"/>
          </p:cNvSpPr>
          <p:nvPr>
            <p:ph type="ftr" sz="quarter" idx="11"/>
          </p:nvPr>
        </p:nvSpPr>
        <p:spPr>
          <a:xfrm>
            <a:off x="1692321" y="6356350"/>
            <a:ext cx="2809017" cy="365125"/>
          </a:xfrm>
        </p:spPr>
        <p:txBody>
          <a:bodyPr vert="horz" lIns="91440" tIns="45720" rIns="91440" bIns="45720" rtlCol="0" anchor="ctr">
            <a:normAutofit/>
          </a:bodyPr>
          <a:lstStyle/>
          <a:p>
            <a:pPr algn="r">
              <a:spcAft>
                <a:spcPts val="600"/>
              </a:spcAft>
              <a:defRPr/>
            </a:pPr>
            <a:r>
              <a:rPr lang="en-US" kern="1200">
                <a:solidFill>
                  <a:schemeClr val="tx1">
                    <a:lumMod val="50000"/>
                    <a:lumOff val="50000"/>
                  </a:schemeClr>
                </a:solidFill>
                <a:latin typeface="Calibri" panose="020F0502020204030204"/>
                <a:ea typeface="+mn-ea"/>
                <a:cs typeface="+mn-cs"/>
              </a:rPr>
              <a:t>Footer Text</a:t>
            </a:r>
          </a:p>
        </p:txBody>
      </p:sp>
      <p:sp>
        <p:nvSpPr>
          <p:cNvPr id="7" name="Slide Number Placeholder 6">
            <a:extLst>
              <a:ext uri="{FF2B5EF4-FFF2-40B4-BE49-F238E27FC236}">
                <a16:creationId xmlns:a16="http://schemas.microsoft.com/office/drawing/2014/main" id="{2B902D4E-21DA-16DE-1A8C-F78CA99E56C7}"/>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753D0FD4-819D-4187-8797-C35567B41C78}" type="slidenum">
              <a:rPr lang="en-US">
                <a:solidFill>
                  <a:schemeClr val="bg1"/>
                </a:solidFill>
                <a:latin typeface="Calibri" panose="020F0502020204030204"/>
              </a:rPr>
              <a:pPr>
                <a:spcAft>
                  <a:spcPts val="600"/>
                </a:spcAft>
                <a:defRPr/>
              </a:pPr>
              <a:t>3</a:t>
            </a:fld>
            <a:endParaRPr lang="en-US">
              <a:solidFill>
                <a:schemeClr val="bg1"/>
              </a:solidFill>
              <a:latin typeface="Calibri" panose="020F0502020204030204"/>
            </a:endParaRPr>
          </a:p>
        </p:txBody>
      </p:sp>
    </p:spTree>
    <p:extLst>
      <p:ext uri="{BB962C8B-B14F-4D97-AF65-F5344CB8AC3E}">
        <p14:creationId xmlns:p14="http://schemas.microsoft.com/office/powerpoint/2010/main" val="502878871"/>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AC4714-9DE1-F7E5-C4A2-69221D816F17}"/>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a:t>Importing NumPy</a:t>
            </a:r>
          </a:p>
        </p:txBody>
      </p:sp>
      <p:sp>
        <p:nvSpPr>
          <p:cNvPr id="4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4A0A4985-C30E-E321-F002-1F96FC74F48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119172"/>
          </a:xfrm>
        </p:spPr>
        <p:txBody>
          <a:bodyPr>
            <a:normAutofit/>
          </a:bodyPr>
          <a:lstStyle/>
          <a:p>
            <a:pPr marL="0" indent="0">
              <a:spcBef>
                <a:spcPts val="2500"/>
              </a:spcBef>
              <a:buFont typeface="Arial" panose="020B0604020202020204" pitchFamily="34" charset="0"/>
              <a:buNone/>
            </a:pPr>
            <a:r>
              <a:rPr lang="en-US" sz="1400" b="1"/>
              <a:t>Importing NumPy Library</a:t>
            </a:r>
          </a:p>
          <a:p>
            <a:pPr marL="0" lvl="1" indent="0">
              <a:buFont typeface="Arial" panose="020B0604020202020204" pitchFamily="34" charset="0"/>
              <a:buNone/>
            </a:pPr>
            <a:r>
              <a:rPr lang="en-US" sz="1400"/>
              <a:t>NumPy must be imported to access its powerful numerical functions in Python.</a:t>
            </a:r>
          </a:p>
          <a:p>
            <a:pPr marL="0" indent="0">
              <a:spcBef>
                <a:spcPts val="2500"/>
              </a:spcBef>
              <a:buFont typeface="Arial" panose="020B0604020202020204" pitchFamily="34" charset="0"/>
              <a:buNone/>
            </a:pPr>
            <a:r>
              <a:rPr lang="en-US" sz="1400" b="1"/>
              <a:t>Using Alias 'np'</a:t>
            </a:r>
          </a:p>
          <a:p>
            <a:pPr marL="0" lvl="1" indent="0">
              <a:buFont typeface="Arial" panose="020B0604020202020204" pitchFamily="34" charset="0"/>
              <a:buNone/>
            </a:pPr>
            <a:r>
              <a:rPr lang="en-US" sz="1400"/>
              <a:t>Using 'np' as an alias makes code concise and differentiates NumPy from other libraries.</a:t>
            </a:r>
          </a:p>
          <a:p>
            <a:pPr marL="0" indent="0">
              <a:spcBef>
                <a:spcPts val="2500"/>
              </a:spcBef>
              <a:buFont typeface="Arial" panose="020B0604020202020204" pitchFamily="34" charset="0"/>
              <a:buNone/>
            </a:pPr>
            <a:r>
              <a:rPr lang="en-US" sz="1400" b="1"/>
              <a:t>Accessing NumPy Features</a:t>
            </a:r>
          </a:p>
          <a:p>
            <a:pPr marL="0" lvl="1" indent="0">
              <a:buFont typeface="Arial" panose="020B0604020202020204" pitchFamily="34" charset="0"/>
              <a:buNone/>
            </a:pPr>
            <a:r>
              <a:rPr lang="en-US" sz="1400"/>
              <a:t>Access all NumPy functions and features using the 'np.' prefix after importing.</a:t>
            </a:r>
          </a:p>
        </p:txBody>
      </p:sp>
      <p:pic>
        <p:nvPicPr>
          <p:cNvPr id="8" name="Content Placeholder 7" descr="a programmer is debugging his code (code is mirrored horizontally)&#10;&#10;view more similar files:&#10;[url=search/portfolio/248175/?facets={%2235%22:%5B%22technology%22,%22OR%20computer%22,%22OR%20camera%22,%22OR%20internet%22%5D,%229%22:0,%2230%22:%22100%22}][img]http://www.photonullplus.de/misc/istock/istock-thumb-tech.jpg[/img][/url] [url=search/portfolio/248175/?facets={%2235%22:%5B%22job%22,%22OR%20work%22,%22OR%20messenger%22%5D,%229%22:0,%2230%22:%22100%22}][img]http://www.photonullplus.de/misc/istock/istock-thumb-jobs.jpg[/img][/url]&#10;&#10;[url=file_closeup.php?id=9924417][img]file_thumbview_approve.php?size=1&amp;id=9924417[/img][/url] [url=file_closeup.php?id=9880384][img]file_thumbview_approve.php?size=1&amp;id=9880384[/img][/url] [url=file_closeup.php?id=9880369][img]file_thumbview_approve.php?size=1&amp;id=9880369[/img][/url] [url=file_closeup.php?id=9880343][img]file_thumbview_approve.php?size=1&amp;id=9880343[/img][/url] [url=file_closeup.php?id=9880317][img]file_thumbview_approve.php?size=1&amp;id=9880317[/img][/url] [url=file_closeup.php?id=9422617][img]file_thumbview_approve.php?size=1&amp;id=9422617[/img][/url] [url=file_closeup.php?id=9422623][img]file_thumbview_approve.php?size=1&amp;id=9422623[/img][/url] [url=file_closeup.php?id=16508469][img]file_thumbview_approve.php?size=1&amp;id=16508469[/img][/url] [url=file_closeup.php?id=16863859][img]file_thumbview_approve.php?size=1&amp;id=16863859[/img][/url] [url=file_closeup.php?id=16863845][img]file_thumbview_approve.php?size=1&amp;id=16863845[/img][/url] [url=file_closeup.php?id=17323807][img]file_thumbview_approve.php?size=1&amp;id=17323807[/img][/url] [url=file_closeup.php?id=17323693][img]file_thumbview_approve.php?size=1&amp;id=17323693[/img][/url] [url=file_closeup.php?id=18279006][img]file_thumbview_approve.php?size=1&amp;id=18279006[/img][/url] [url=file_closeup.php?id=18279019][img]file_thumbview_approve.php?size=1&amp;id=18279019[/img][/url]">
            <a:extLst>
              <a:ext uri="{FF2B5EF4-FFF2-40B4-BE49-F238E27FC236}">
                <a16:creationId xmlns:a16="http://schemas.microsoft.com/office/drawing/2014/main" id="{942384C9-8983-4D7E-B1A0-AE0079A01006}"/>
              </a:ext>
            </a:extLst>
          </p:cNvPr>
          <p:cNvPicPr>
            <a:picLocks noGrp="1" noChangeAspect="1"/>
          </p:cNvPicPr>
          <p:nvPr>
            <p:ph type="pic" sz="quarter" idx="13"/>
          </p:nvPr>
        </p:nvPicPr>
        <p:blipFill>
          <a:blip r:embed="rId3"/>
          <a:srcRect l="33016" r="2768" b="2"/>
          <a:stretch>
            <a:fillRect/>
          </a:stretch>
        </p:blipFill>
        <p:spPr>
          <a:xfrm>
            <a:off x="7675658" y="2093976"/>
            <a:ext cx="3941064" cy="4096512"/>
          </a:xfrm>
          <a:prstGeom prst="rect">
            <a:avLst/>
          </a:prstGeom>
          <a:noFill/>
        </p:spPr>
      </p:pic>
      <p:sp>
        <p:nvSpPr>
          <p:cNvPr id="4" name="Date Placeholder 3">
            <a:extLst>
              <a:ext uri="{FF2B5EF4-FFF2-40B4-BE49-F238E27FC236}">
                <a16:creationId xmlns:a16="http://schemas.microsoft.com/office/drawing/2014/main" id="{EEC6056C-2699-9ECE-273E-3CA65FABF68E}"/>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defRPr/>
            </a:pPr>
            <a:fld id="{9EAD527F-9C49-4481-A18C-80BA2EA99E79}" type="datetime1">
              <a:rPr lang="en-US">
                <a:solidFill>
                  <a:prstClr val="black">
                    <a:tint val="75000"/>
                  </a:prstClr>
                </a:solidFill>
                <a:latin typeface="Calibri" panose="020F0502020204030204"/>
              </a:rPr>
              <a:pPr>
                <a:spcAft>
                  <a:spcPts val="600"/>
                </a:spcAft>
                <a:defRPr/>
              </a:pPr>
              <a:t>9/22/25</a:t>
            </a:fld>
            <a:endParaRPr lang="en-US">
              <a:solidFill>
                <a:prstClr val="black">
                  <a:tint val="75000"/>
                </a:prstClr>
              </a:solidFill>
              <a:latin typeface="Calibri" panose="020F0502020204030204"/>
            </a:endParaRPr>
          </a:p>
        </p:txBody>
      </p:sp>
      <p:sp>
        <p:nvSpPr>
          <p:cNvPr id="3" name="Footer Placeholder 2">
            <a:extLst>
              <a:ext uri="{FF2B5EF4-FFF2-40B4-BE49-F238E27FC236}">
                <a16:creationId xmlns:a16="http://schemas.microsoft.com/office/drawing/2014/main" id="{945EB622-682F-519D-A173-D77AE447C5CB}"/>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prstClr val="black">
                    <a:tint val="75000"/>
                  </a:prstClr>
                </a:solidFill>
                <a:latin typeface="Calibri" panose="020F0502020204030204"/>
                <a:ea typeface="+mn-ea"/>
                <a:cs typeface="+mn-cs"/>
              </a:rPr>
              <a:t>Footer Text</a:t>
            </a:r>
          </a:p>
        </p:txBody>
      </p:sp>
      <p:sp>
        <p:nvSpPr>
          <p:cNvPr id="5" name="Slide Number Placeholder 4">
            <a:extLst>
              <a:ext uri="{FF2B5EF4-FFF2-40B4-BE49-F238E27FC236}">
                <a16:creationId xmlns:a16="http://schemas.microsoft.com/office/drawing/2014/main" id="{C5A12BFD-4C28-DC69-548C-356EC4133EE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753D0FD4-819D-4187-8797-C35567B41C78}" type="slidenum">
              <a:rPr lang="en-US">
                <a:solidFill>
                  <a:prstClr val="black">
                    <a:tint val="75000"/>
                  </a:prstClr>
                </a:solidFill>
                <a:latin typeface="Calibri" panose="020F0502020204030204"/>
              </a:rPr>
              <a:pPr>
                <a:spcAft>
                  <a:spcPts val="600"/>
                </a:spcAft>
                <a:defRPr/>
              </a:pPr>
              <a:t>4</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30575416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3EC210-45DD-3E38-F1E2-F08B090FEB60}"/>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a:t>Creating Arrays</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02133C96-BCE6-C881-E186-FA6B7946F8F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119172"/>
          </a:xfrm>
        </p:spPr>
        <p:txBody>
          <a:bodyPr>
            <a:normAutofit/>
          </a:bodyPr>
          <a:lstStyle/>
          <a:p>
            <a:pPr marL="0" indent="0">
              <a:spcBef>
                <a:spcPts val="2500"/>
              </a:spcBef>
              <a:buFont typeface="Arial" panose="020B0604020202020204" pitchFamily="34" charset="0"/>
              <a:buNone/>
            </a:pPr>
            <a:r>
              <a:rPr lang="en-US" sz="1400" b="1"/>
              <a:t>Core Data Structure</a:t>
            </a:r>
          </a:p>
          <a:p>
            <a:pPr marL="0" lvl="1" indent="0">
              <a:buFont typeface="Arial" panose="020B0604020202020204" pitchFamily="34" charset="0"/>
              <a:buNone/>
            </a:pPr>
            <a:r>
              <a:rPr lang="en-US" sz="1400"/>
              <a:t>Arrays are the fundamental data structures in NumPy used for efficient data manipulation.</a:t>
            </a:r>
          </a:p>
          <a:p>
            <a:pPr marL="0" indent="0">
              <a:spcBef>
                <a:spcPts val="2500"/>
              </a:spcBef>
              <a:buFont typeface="Arial" panose="020B0604020202020204" pitchFamily="34" charset="0"/>
              <a:buNone/>
            </a:pPr>
            <a:r>
              <a:rPr lang="en-US" sz="1400" b="1"/>
              <a:t>Array Creation Method</a:t>
            </a:r>
          </a:p>
          <a:p>
            <a:pPr marL="0" lvl="1" indent="0">
              <a:buFont typeface="Arial" panose="020B0604020202020204" pitchFamily="34" charset="0"/>
              <a:buNone/>
            </a:pPr>
            <a:r>
              <a:rPr lang="en-US" sz="1400"/>
              <a:t>Use np.array() to convert Python lists into NumPy arrays for better performance and flexibility.</a:t>
            </a:r>
          </a:p>
          <a:p>
            <a:pPr marL="0" indent="0">
              <a:spcBef>
                <a:spcPts val="2500"/>
              </a:spcBef>
              <a:buFont typeface="Arial" panose="020B0604020202020204" pitchFamily="34" charset="0"/>
              <a:buNone/>
            </a:pPr>
            <a:r>
              <a:rPr lang="en-US" sz="1400" b="1"/>
              <a:t>Dimensions of Arrays</a:t>
            </a:r>
          </a:p>
          <a:p>
            <a:pPr marL="0" lvl="1" indent="0">
              <a:buNone/>
            </a:pPr>
            <a:r>
              <a:rPr lang="en-US" sz="1400"/>
              <a:t>Arrays can be one-dimensional, two-dimensional, or multi-dimensional to store complex data structures. Dimensions are called axes.</a:t>
            </a:r>
          </a:p>
          <a:p>
            <a:pPr marL="0" indent="0">
              <a:spcBef>
                <a:spcPts val="2500"/>
              </a:spcBef>
              <a:buFont typeface="Arial" panose="020B0604020202020204" pitchFamily="34" charset="0"/>
              <a:buNone/>
            </a:pPr>
            <a:r>
              <a:rPr lang="en-US" sz="1400" b="1"/>
              <a:t>Homogeneous Data Type</a:t>
            </a:r>
          </a:p>
          <a:p>
            <a:pPr marL="0" lvl="1" indent="0">
              <a:buFont typeface="Arial" panose="020B0604020202020204" pitchFamily="34" charset="0"/>
              <a:buNone/>
            </a:pPr>
            <a:r>
              <a:rPr lang="en-US" sz="1400"/>
              <a:t>All elements in a NumPy array have the same data type, optimizing memory and performance.</a:t>
            </a:r>
          </a:p>
        </p:txBody>
      </p:sp>
      <p:pic>
        <p:nvPicPr>
          <p:cNvPr id="8" name="Content Placeholder 7" descr="Binary code abstract background with radial lines.">
            <a:extLst>
              <a:ext uri="{FF2B5EF4-FFF2-40B4-BE49-F238E27FC236}">
                <a16:creationId xmlns:a16="http://schemas.microsoft.com/office/drawing/2014/main" id="{15B4FFBC-F446-4518-A04B-DCF7C32F93E3}"/>
              </a:ext>
            </a:extLst>
          </p:cNvPr>
          <p:cNvPicPr>
            <a:picLocks noGrp="1" noChangeAspect="1"/>
          </p:cNvPicPr>
          <p:nvPr>
            <p:ph type="pic" sz="quarter" idx="13"/>
          </p:nvPr>
        </p:nvPicPr>
        <p:blipFill>
          <a:blip r:embed="rId3"/>
          <a:srcRect l="21227" r="14557" b="2"/>
          <a:stretch>
            <a:fillRect/>
          </a:stretch>
        </p:blipFill>
        <p:spPr>
          <a:xfrm>
            <a:off x="7675658" y="2093976"/>
            <a:ext cx="3941064" cy="4096512"/>
          </a:xfrm>
          <a:prstGeom prst="rect">
            <a:avLst/>
          </a:prstGeom>
          <a:noFill/>
        </p:spPr>
      </p:pic>
      <p:sp>
        <p:nvSpPr>
          <p:cNvPr id="4" name="Date Placeholder 3">
            <a:extLst>
              <a:ext uri="{FF2B5EF4-FFF2-40B4-BE49-F238E27FC236}">
                <a16:creationId xmlns:a16="http://schemas.microsoft.com/office/drawing/2014/main" id="{8769F193-69E6-1300-4B49-473D62E42F59}"/>
              </a:ext>
            </a:extLst>
          </p:cNvPr>
          <p:cNvSpPr>
            <a:spLocks noGrp="1"/>
          </p:cNvSpPr>
          <p:nvPr>
            <p:ph type="dt" sz="half" idx="14"/>
          </p:nvPr>
        </p:nvSpPr>
        <p:spPr>
          <a:xfrm>
            <a:off x="838200" y="6356350"/>
            <a:ext cx="2743200" cy="365125"/>
          </a:xfrm>
        </p:spPr>
        <p:txBody>
          <a:bodyPr vert="horz" lIns="91440" tIns="45720" rIns="91440" bIns="45720" rtlCol="0" anchor="ctr">
            <a:normAutofit/>
          </a:bodyPr>
          <a:lstStyle/>
          <a:p>
            <a:pPr>
              <a:spcAft>
                <a:spcPts val="600"/>
              </a:spcAft>
              <a:defRPr/>
            </a:pPr>
            <a:fld id="{9EAD527F-9C49-4481-A18C-80BA2EA99E79}" type="datetime1">
              <a:rPr lang="en-US">
                <a:solidFill>
                  <a:prstClr val="black">
                    <a:tint val="75000"/>
                  </a:prstClr>
                </a:solidFill>
                <a:latin typeface="Calibri" panose="020F0502020204030204"/>
              </a:rPr>
              <a:pPr>
                <a:spcAft>
                  <a:spcPts val="600"/>
                </a:spcAft>
                <a:defRPr/>
              </a:pPr>
              <a:t>9/22/25</a:t>
            </a:fld>
            <a:endParaRPr lang="en-US">
              <a:solidFill>
                <a:prstClr val="black">
                  <a:tint val="75000"/>
                </a:prstClr>
              </a:solidFill>
              <a:latin typeface="Calibri" panose="020F0502020204030204"/>
            </a:endParaRPr>
          </a:p>
        </p:txBody>
      </p:sp>
      <p:sp>
        <p:nvSpPr>
          <p:cNvPr id="3" name="Footer Placeholder 2">
            <a:extLst>
              <a:ext uri="{FF2B5EF4-FFF2-40B4-BE49-F238E27FC236}">
                <a16:creationId xmlns:a16="http://schemas.microsoft.com/office/drawing/2014/main" id="{D7B997B0-53C1-8DF5-83BF-42814FEEC988}"/>
              </a:ext>
            </a:extLst>
          </p:cNvPr>
          <p:cNvSpPr>
            <a:spLocks noGrp="1"/>
          </p:cNvSpPr>
          <p:nvPr>
            <p:ph type="ftr" sz="quarter" idx="15"/>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prstClr val="black">
                    <a:tint val="75000"/>
                  </a:prstClr>
                </a:solidFill>
                <a:latin typeface="Calibri" panose="020F0502020204030204"/>
                <a:ea typeface="+mn-ea"/>
                <a:cs typeface="+mn-cs"/>
              </a:rPr>
              <a:t>Footer Text</a:t>
            </a:r>
          </a:p>
        </p:txBody>
      </p:sp>
      <p:sp>
        <p:nvSpPr>
          <p:cNvPr id="5" name="Slide Number Placeholder 4">
            <a:extLst>
              <a:ext uri="{FF2B5EF4-FFF2-40B4-BE49-F238E27FC236}">
                <a16:creationId xmlns:a16="http://schemas.microsoft.com/office/drawing/2014/main" id="{6F9F71F7-57D0-D79B-26A3-C9843FEFF7C8}"/>
              </a:ext>
            </a:extLst>
          </p:cNvPr>
          <p:cNvSpPr>
            <a:spLocks noGrp="1"/>
          </p:cNvSpPr>
          <p:nvPr>
            <p:ph type="sldNum" sz="quarter" idx="16"/>
          </p:nvPr>
        </p:nvSpPr>
        <p:spPr>
          <a:xfrm>
            <a:off x="8610600" y="6356350"/>
            <a:ext cx="2743200" cy="365125"/>
          </a:xfrm>
        </p:spPr>
        <p:txBody>
          <a:bodyPr vert="horz" lIns="91440" tIns="45720" rIns="91440" bIns="45720" rtlCol="0" anchor="ctr">
            <a:normAutofit/>
          </a:bodyPr>
          <a:lstStyle/>
          <a:p>
            <a:pPr>
              <a:spcAft>
                <a:spcPts val="600"/>
              </a:spcAft>
              <a:defRPr/>
            </a:pPr>
            <a:fld id="{753D0FD4-819D-4187-8797-C35567B41C78}" type="slidenum">
              <a:rPr lang="en-US">
                <a:solidFill>
                  <a:prstClr val="black">
                    <a:tint val="75000"/>
                  </a:prstClr>
                </a:solidFill>
                <a:latin typeface="Calibri" panose="020F0502020204030204"/>
              </a:rPr>
              <a:pPr>
                <a:spcAft>
                  <a:spcPts val="600"/>
                </a:spcAft>
                <a:defRPr/>
              </a:pPr>
              <a:t>5</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31525831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B29A1C-6EB3-2DAA-C4A9-0E258CEF1FEF}"/>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a:t>Array Attributes</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B554BE4A-C8CE-EA06-52AF-D77ED438B84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119172"/>
          </a:xfrm>
        </p:spPr>
        <p:txBody>
          <a:bodyPr>
            <a:normAutofit/>
          </a:bodyPr>
          <a:lstStyle/>
          <a:p>
            <a:pPr marL="0" indent="0">
              <a:spcBef>
                <a:spcPts val="2500"/>
              </a:spcBef>
              <a:buFont typeface="Arial" panose="020B0604020202020204" pitchFamily="34" charset="0"/>
              <a:buNone/>
            </a:pPr>
            <a:r>
              <a:rPr lang="en-US" sz="1400" b="1"/>
              <a:t>Number of Dimensions</a:t>
            </a:r>
          </a:p>
          <a:p>
            <a:pPr marL="0" lvl="1" indent="0">
              <a:buFont typeface="Arial" panose="020B0604020202020204" pitchFamily="34" charset="0"/>
              <a:buNone/>
            </a:pPr>
            <a:r>
              <a:rPr lang="en-US" sz="1400"/>
              <a:t>The ndim attribute returns the number of dimensions of a NumPy array, indicating its rank or axes count.</a:t>
            </a:r>
          </a:p>
          <a:p>
            <a:pPr marL="0" indent="0">
              <a:spcBef>
                <a:spcPts val="2500"/>
              </a:spcBef>
              <a:buFont typeface="Arial" panose="020B0604020202020204" pitchFamily="34" charset="0"/>
              <a:buNone/>
            </a:pPr>
            <a:r>
              <a:rPr lang="en-US" sz="1400" b="1"/>
              <a:t>Array Shape</a:t>
            </a:r>
          </a:p>
          <a:p>
            <a:pPr marL="0" lvl="1" indent="0">
              <a:buFont typeface="Arial" panose="020B0604020202020204" pitchFamily="34" charset="0"/>
              <a:buNone/>
            </a:pPr>
            <a:r>
              <a:rPr lang="en-US" sz="1400"/>
              <a:t>The shape attribute gives a tuple showing the size of the array along each dimension, defining its structure.</a:t>
            </a:r>
          </a:p>
          <a:p>
            <a:pPr marL="0" indent="0">
              <a:spcBef>
                <a:spcPts val="2500"/>
              </a:spcBef>
              <a:buFont typeface="Arial" panose="020B0604020202020204" pitchFamily="34" charset="0"/>
              <a:buNone/>
            </a:pPr>
            <a:r>
              <a:rPr lang="en-US" sz="1400" b="1"/>
              <a:t>Total Elements Count</a:t>
            </a:r>
          </a:p>
          <a:p>
            <a:pPr marL="0" lvl="1" indent="0">
              <a:buFont typeface="Arial" panose="020B0604020202020204" pitchFamily="34" charset="0"/>
              <a:buNone/>
            </a:pPr>
            <a:r>
              <a:rPr lang="en-US" sz="1400"/>
              <a:t>The size attribute returns the total number of elements contained in the array across all dimensions.</a:t>
            </a:r>
          </a:p>
          <a:p>
            <a:pPr marL="0" indent="0">
              <a:spcBef>
                <a:spcPts val="2500"/>
              </a:spcBef>
              <a:buFont typeface="Arial" panose="020B0604020202020204" pitchFamily="34" charset="0"/>
              <a:buNone/>
            </a:pPr>
            <a:r>
              <a:rPr lang="en-US" sz="1400" b="1"/>
              <a:t>Data Type Indicator</a:t>
            </a:r>
          </a:p>
          <a:p>
            <a:pPr marL="0" lvl="1" indent="0">
              <a:buFont typeface="Arial" panose="020B0604020202020204" pitchFamily="34" charset="0"/>
              <a:buNone/>
            </a:pPr>
            <a:r>
              <a:rPr lang="en-US" sz="1400"/>
              <a:t>The dtype attribute specifies the data type of the array elements, crucial for numerical operations and memory usage.</a:t>
            </a:r>
          </a:p>
        </p:txBody>
      </p:sp>
      <p:pic>
        <p:nvPicPr>
          <p:cNvPr id="8" name="Content Placeholder 7" descr="Numbers in sequence on a dark gray plane - XXL">
            <a:extLst>
              <a:ext uri="{FF2B5EF4-FFF2-40B4-BE49-F238E27FC236}">
                <a16:creationId xmlns:a16="http://schemas.microsoft.com/office/drawing/2014/main" id="{5D64503A-DE7B-45C8-93B0-875F284ED514}"/>
              </a:ext>
            </a:extLst>
          </p:cNvPr>
          <p:cNvPicPr>
            <a:picLocks noGrp="1" noChangeAspect="1"/>
          </p:cNvPicPr>
          <p:nvPr>
            <p:ph type="pic" sz="quarter" idx="13"/>
          </p:nvPr>
        </p:nvPicPr>
        <p:blipFill>
          <a:blip r:embed="rId3"/>
          <a:srcRect l="422" r="3370" b="-3"/>
          <a:stretch>
            <a:fillRect/>
          </a:stretch>
        </p:blipFill>
        <p:spPr>
          <a:xfrm>
            <a:off x="7675658" y="2093976"/>
            <a:ext cx="3941064" cy="4096512"/>
          </a:xfrm>
          <a:prstGeom prst="rect">
            <a:avLst/>
          </a:prstGeom>
          <a:noFill/>
        </p:spPr>
      </p:pic>
      <p:sp>
        <p:nvSpPr>
          <p:cNvPr id="4" name="Date Placeholder 3">
            <a:extLst>
              <a:ext uri="{FF2B5EF4-FFF2-40B4-BE49-F238E27FC236}">
                <a16:creationId xmlns:a16="http://schemas.microsoft.com/office/drawing/2014/main" id="{5884B786-26A0-F09D-CCAC-D334FA025BDF}"/>
              </a:ext>
            </a:extLst>
          </p:cNvPr>
          <p:cNvSpPr>
            <a:spLocks noGrp="1"/>
          </p:cNvSpPr>
          <p:nvPr>
            <p:ph type="dt" sz="half" idx="14"/>
          </p:nvPr>
        </p:nvSpPr>
        <p:spPr>
          <a:xfrm>
            <a:off x="838200" y="6356350"/>
            <a:ext cx="2743200" cy="365125"/>
          </a:xfrm>
        </p:spPr>
        <p:txBody>
          <a:bodyPr vert="horz" lIns="91440" tIns="45720" rIns="91440" bIns="45720" rtlCol="0" anchor="ctr">
            <a:normAutofit/>
          </a:bodyPr>
          <a:lstStyle/>
          <a:p>
            <a:pPr>
              <a:spcAft>
                <a:spcPts val="600"/>
              </a:spcAft>
              <a:defRPr/>
            </a:pPr>
            <a:fld id="{9EAD527F-9C49-4481-A18C-80BA2EA99E79}" type="datetime1">
              <a:rPr lang="en-US">
                <a:solidFill>
                  <a:prstClr val="black">
                    <a:tint val="75000"/>
                  </a:prstClr>
                </a:solidFill>
                <a:latin typeface="Calibri" panose="020F0502020204030204"/>
              </a:rPr>
              <a:pPr>
                <a:spcAft>
                  <a:spcPts val="600"/>
                </a:spcAft>
                <a:defRPr/>
              </a:pPr>
              <a:t>9/22/25</a:t>
            </a:fld>
            <a:endParaRPr lang="en-US">
              <a:solidFill>
                <a:prstClr val="black">
                  <a:tint val="75000"/>
                </a:prstClr>
              </a:solidFill>
              <a:latin typeface="Calibri" panose="020F0502020204030204"/>
            </a:endParaRPr>
          </a:p>
        </p:txBody>
      </p:sp>
      <p:sp>
        <p:nvSpPr>
          <p:cNvPr id="3" name="Footer Placeholder 2">
            <a:extLst>
              <a:ext uri="{FF2B5EF4-FFF2-40B4-BE49-F238E27FC236}">
                <a16:creationId xmlns:a16="http://schemas.microsoft.com/office/drawing/2014/main" id="{16315E11-948D-C549-CAA2-E17807109297}"/>
              </a:ext>
            </a:extLst>
          </p:cNvPr>
          <p:cNvSpPr>
            <a:spLocks noGrp="1"/>
          </p:cNvSpPr>
          <p:nvPr>
            <p:ph type="ftr" sz="quarter" idx="15"/>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prstClr val="black">
                    <a:tint val="75000"/>
                  </a:prstClr>
                </a:solidFill>
                <a:latin typeface="Calibri" panose="020F0502020204030204"/>
                <a:ea typeface="+mn-ea"/>
                <a:cs typeface="+mn-cs"/>
              </a:rPr>
              <a:t>Footer Text</a:t>
            </a:r>
          </a:p>
        </p:txBody>
      </p:sp>
      <p:sp>
        <p:nvSpPr>
          <p:cNvPr id="5" name="Slide Number Placeholder 4">
            <a:extLst>
              <a:ext uri="{FF2B5EF4-FFF2-40B4-BE49-F238E27FC236}">
                <a16:creationId xmlns:a16="http://schemas.microsoft.com/office/drawing/2014/main" id="{433E88F9-9300-680A-7B1A-1477AC2E1CD2}"/>
              </a:ext>
            </a:extLst>
          </p:cNvPr>
          <p:cNvSpPr>
            <a:spLocks noGrp="1"/>
          </p:cNvSpPr>
          <p:nvPr>
            <p:ph type="sldNum" sz="quarter" idx="16"/>
          </p:nvPr>
        </p:nvSpPr>
        <p:spPr>
          <a:xfrm>
            <a:off x="8610600" y="6356350"/>
            <a:ext cx="2743200" cy="365125"/>
          </a:xfrm>
        </p:spPr>
        <p:txBody>
          <a:bodyPr vert="horz" lIns="91440" tIns="45720" rIns="91440" bIns="45720" rtlCol="0" anchor="ctr">
            <a:normAutofit/>
          </a:bodyPr>
          <a:lstStyle/>
          <a:p>
            <a:pPr>
              <a:spcAft>
                <a:spcPts val="600"/>
              </a:spcAft>
              <a:defRPr/>
            </a:pPr>
            <a:fld id="{753D0FD4-819D-4187-8797-C35567B41C78}" type="slidenum">
              <a:rPr lang="en-US">
                <a:solidFill>
                  <a:prstClr val="black">
                    <a:tint val="75000"/>
                  </a:prstClr>
                </a:solidFill>
                <a:latin typeface="Calibri" panose="020F0502020204030204"/>
              </a:rPr>
              <a:pPr>
                <a:spcAft>
                  <a:spcPts val="600"/>
                </a:spcAft>
                <a:defRPr/>
              </a:pPr>
              <a:t>6</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38125137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Placeholder 7" descr="DNA code on large LED screen">
            <a:extLst>
              <a:ext uri="{FF2B5EF4-FFF2-40B4-BE49-F238E27FC236}">
                <a16:creationId xmlns:a16="http://schemas.microsoft.com/office/drawing/2014/main" id="{079DEA57-6154-7064-2386-5A05558853C3}"/>
              </a:ext>
            </a:extLst>
          </p:cNvPr>
          <p:cNvPicPr>
            <a:picLocks noChangeAspect="1"/>
          </p:cNvPicPr>
          <p:nvPr/>
        </p:nvPicPr>
        <p:blipFill>
          <a:blip r:embed="rId3"/>
          <a:srcRect r="23298" b="9091"/>
          <a:stretch>
            <a:fillRect/>
          </a:stretch>
        </p:blipFill>
        <p:spPr>
          <a:xfrm>
            <a:off x="3523488" y="10"/>
            <a:ext cx="8668512" cy="6857990"/>
          </a:xfrm>
          <a:prstGeom prst="rect">
            <a:avLst/>
          </a:prstGeom>
          <a:noFill/>
        </p:spPr>
      </p:pic>
      <p:sp>
        <p:nvSpPr>
          <p:cNvPr id="26" name="Rectangle 25">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D97FE70-1D2F-95A9-0AB2-B8BEFAFFEB63}"/>
              </a:ext>
            </a:extLst>
          </p:cNvPr>
          <p:cNvSpPr>
            <a:spLocks noGrp="1"/>
          </p:cNvSpPr>
          <p:nvPr>
            <p:ph type="title"/>
          </p:nvPr>
        </p:nvSpPr>
        <p:spPr>
          <a:xfrm>
            <a:off x="477981" y="1122363"/>
            <a:ext cx="4023360" cy="3204134"/>
          </a:xfrm>
        </p:spPr>
        <p:txBody>
          <a:bodyPr vert="horz" lIns="91440" tIns="45720" rIns="91440" bIns="45720" rtlCol="0" anchor="b">
            <a:normAutofit/>
          </a:bodyPr>
          <a:lstStyle/>
          <a:p>
            <a:pPr>
              <a:lnSpc>
                <a:spcPct val="90000"/>
              </a:lnSpc>
            </a:pPr>
            <a:r>
              <a:rPr lang="en-US" sz="4800">
                <a:solidFill>
                  <a:schemeClr val="tx1"/>
                </a:solidFill>
              </a:rPr>
              <a:t>Manipulating Arrays</a:t>
            </a:r>
          </a:p>
        </p:txBody>
      </p:sp>
      <p:sp>
        <p:nvSpPr>
          <p:cNvPr id="28" name="Rectangle 2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0" name="Rectangle 29">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Date Placeholder 5">
            <a:extLst>
              <a:ext uri="{FF2B5EF4-FFF2-40B4-BE49-F238E27FC236}">
                <a16:creationId xmlns:a16="http://schemas.microsoft.com/office/drawing/2014/main" id="{6717E64E-B171-CF41-DA4A-A50A5E20530B}"/>
              </a:ext>
            </a:extLst>
          </p:cNvPr>
          <p:cNvSpPr>
            <a:spLocks noGrp="1"/>
          </p:cNvSpPr>
          <p:nvPr>
            <p:ph type="dt" sz="half" idx="10"/>
          </p:nvPr>
        </p:nvSpPr>
        <p:spPr>
          <a:xfrm>
            <a:off x="477981" y="6356350"/>
            <a:ext cx="1214339" cy="365125"/>
          </a:xfrm>
        </p:spPr>
        <p:txBody>
          <a:bodyPr vert="horz" lIns="91440" tIns="45720" rIns="91440" bIns="45720" rtlCol="0" anchor="ctr">
            <a:normAutofit/>
          </a:bodyPr>
          <a:lstStyle/>
          <a:p>
            <a:pPr>
              <a:spcAft>
                <a:spcPts val="600"/>
              </a:spcAft>
              <a:defRPr/>
            </a:pPr>
            <a:fld id="{BBB8170F-0370-4A38-8BF3-83D69476AE62}" type="datetime1">
              <a:rPr lang="en-US">
                <a:solidFill>
                  <a:schemeClr val="tx1">
                    <a:lumMod val="50000"/>
                    <a:lumOff val="50000"/>
                  </a:schemeClr>
                </a:solidFill>
                <a:latin typeface="Calibri" panose="020F0502020204030204"/>
              </a:rPr>
              <a:pPr>
                <a:spcAft>
                  <a:spcPts val="600"/>
                </a:spcAft>
                <a:defRPr/>
              </a:pPr>
              <a:t>9/22/25</a:t>
            </a:fld>
            <a:endParaRPr lang="en-US">
              <a:solidFill>
                <a:schemeClr val="tx1">
                  <a:lumMod val="50000"/>
                  <a:lumOff val="50000"/>
                </a:schemeClr>
              </a:solidFill>
              <a:latin typeface="Calibri" panose="020F0502020204030204"/>
            </a:endParaRPr>
          </a:p>
        </p:txBody>
      </p:sp>
      <p:sp>
        <p:nvSpPr>
          <p:cNvPr id="4" name="Footer Placeholder 3">
            <a:extLst>
              <a:ext uri="{FF2B5EF4-FFF2-40B4-BE49-F238E27FC236}">
                <a16:creationId xmlns:a16="http://schemas.microsoft.com/office/drawing/2014/main" id="{90FBE4A1-D530-F0D3-271D-813B0A877243}"/>
              </a:ext>
            </a:extLst>
          </p:cNvPr>
          <p:cNvSpPr>
            <a:spLocks noGrp="1"/>
          </p:cNvSpPr>
          <p:nvPr>
            <p:ph type="ftr" sz="quarter" idx="11"/>
          </p:nvPr>
        </p:nvSpPr>
        <p:spPr>
          <a:xfrm>
            <a:off x="1692321" y="6356350"/>
            <a:ext cx="2809017" cy="365125"/>
          </a:xfrm>
        </p:spPr>
        <p:txBody>
          <a:bodyPr vert="horz" lIns="91440" tIns="45720" rIns="91440" bIns="45720" rtlCol="0" anchor="ctr">
            <a:normAutofit/>
          </a:bodyPr>
          <a:lstStyle/>
          <a:p>
            <a:pPr algn="r">
              <a:spcAft>
                <a:spcPts val="600"/>
              </a:spcAft>
              <a:defRPr/>
            </a:pPr>
            <a:r>
              <a:rPr lang="en-US" kern="1200">
                <a:solidFill>
                  <a:schemeClr val="tx1">
                    <a:lumMod val="50000"/>
                    <a:lumOff val="50000"/>
                  </a:schemeClr>
                </a:solidFill>
                <a:latin typeface="Calibri" panose="020F0502020204030204"/>
                <a:ea typeface="+mn-ea"/>
                <a:cs typeface="+mn-cs"/>
              </a:rPr>
              <a:t>Footer Text</a:t>
            </a:r>
          </a:p>
        </p:txBody>
      </p:sp>
      <p:sp>
        <p:nvSpPr>
          <p:cNvPr id="7" name="Slide Number Placeholder 6">
            <a:extLst>
              <a:ext uri="{FF2B5EF4-FFF2-40B4-BE49-F238E27FC236}">
                <a16:creationId xmlns:a16="http://schemas.microsoft.com/office/drawing/2014/main" id="{73581FCD-896E-CDEB-C943-CB24246AA251}"/>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753D0FD4-819D-4187-8797-C35567B41C78}" type="slidenum">
              <a:rPr lang="en-US">
                <a:solidFill>
                  <a:schemeClr val="bg1"/>
                </a:solidFill>
                <a:latin typeface="Calibri" panose="020F0502020204030204"/>
              </a:rPr>
              <a:pPr>
                <a:spcAft>
                  <a:spcPts val="600"/>
                </a:spcAft>
                <a:defRPr/>
              </a:pPr>
              <a:t>7</a:t>
            </a:fld>
            <a:endParaRPr lang="en-US">
              <a:solidFill>
                <a:schemeClr val="bg1"/>
              </a:solidFill>
              <a:latin typeface="Calibri" panose="020F0502020204030204"/>
            </a:endParaRPr>
          </a:p>
        </p:txBody>
      </p:sp>
    </p:spTree>
    <p:extLst>
      <p:ext uri="{BB962C8B-B14F-4D97-AF65-F5344CB8AC3E}">
        <p14:creationId xmlns:p14="http://schemas.microsoft.com/office/powerpoint/2010/main" val="347985560"/>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8F20CE-BDF3-414B-8497-DDF81F89930D}"/>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a:t>Indexing and Slicing</a:t>
            </a:r>
          </a:p>
        </p:txBody>
      </p:sp>
      <p:sp>
        <p:nvSpPr>
          <p:cNvPr id="1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44726D19-ADE6-AF11-F448-E40B74EEE09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119172"/>
          </a:xfrm>
        </p:spPr>
        <p:txBody>
          <a:bodyPr>
            <a:normAutofit/>
          </a:bodyPr>
          <a:lstStyle/>
          <a:p>
            <a:pPr marL="0" indent="0">
              <a:spcBef>
                <a:spcPts val="2500"/>
              </a:spcBef>
              <a:buFont typeface="Arial" panose="020B0604020202020204" pitchFamily="34" charset="0"/>
              <a:buNone/>
            </a:pPr>
            <a:r>
              <a:rPr lang="en-US" sz="1400" b="1"/>
              <a:t>Zero-based Indexing</a:t>
            </a:r>
          </a:p>
          <a:p>
            <a:pPr marL="0" lvl="1" indent="0">
              <a:buFont typeface="Arial" panose="020B0604020202020204" pitchFamily="34" charset="0"/>
              <a:buNone/>
            </a:pPr>
            <a:r>
              <a:rPr lang="en-US" sz="1400"/>
              <a:t>NumPy arrays use zero-based indexing where the first element is accessed with index 0.</a:t>
            </a:r>
          </a:p>
          <a:p>
            <a:pPr marL="0" indent="0">
              <a:spcBef>
                <a:spcPts val="2500"/>
              </a:spcBef>
              <a:buFont typeface="Arial" panose="020B0604020202020204" pitchFamily="34" charset="0"/>
              <a:buNone/>
            </a:pPr>
            <a:r>
              <a:rPr lang="en-US" sz="1400" b="1"/>
              <a:t>Accessing Elements</a:t>
            </a:r>
          </a:p>
          <a:p>
            <a:pPr marL="0" lvl="1" indent="0">
              <a:buFont typeface="Arial" panose="020B0604020202020204" pitchFamily="34" charset="0"/>
              <a:buNone/>
            </a:pPr>
            <a:r>
              <a:rPr lang="en-US" sz="1400"/>
              <a:t>Square brackets allow accessing individual elements or slices within a NumPy array.</a:t>
            </a:r>
          </a:p>
          <a:p>
            <a:pPr marL="0" indent="0">
              <a:spcBef>
                <a:spcPts val="2500"/>
              </a:spcBef>
              <a:buFont typeface="Arial" panose="020B0604020202020204" pitchFamily="34" charset="0"/>
              <a:buNone/>
            </a:pPr>
            <a:r>
              <a:rPr lang="en-US" sz="1400" b="1"/>
              <a:t>Slicing as View</a:t>
            </a:r>
          </a:p>
          <a:p>
            <a:pPr marL="0" lvl="1" indent="0">
              <a:buFont typeface="Arial" panose="020B0604020202020204" pitchFamily="34" charset="0"/>
              <a:buNone/>
            </a:pPr>
            <a:r>
              <a:rPr lang="en-US" sz="1400"/>
              <a:t>Slicing returns a view of the original array, so changes to slices affect the original data.</a:t>
            </a:r>
          </a:p>
          <a:p>
            <a:pPr marL="0" indent="0">
              <a:spcBef>
                <a:spcPts val="2500"/>
              </a:spcBef>
              <a:buFont typeface="Arial" panose="020B0604020202020204" pitchFamily="34" charset="0"/>
              <a:buNone/>
            </a:pPr>
            <a:r>
              <a:rPr lang="en-US" sz="1400" b="1"/>
              <a:t>Difference from Lists</a:t>
            </a:r>
          </a:p>
          <a:p>
            <a:pPr marL="0" lvl="1" indent="0">
              <a:buFont typeface="Arial" panose="020B0604020202020204" pitchFamily="34" charset="0"/>
              <a:buNone/>
            </a:pPr>
            <a:r>
              <a:rPr lang="en-US" sz="1400"/>
              <a:t>Unlike Python lists, NumPy slicing creates views, not copies, impacting data manipulation.</a:t>
            </a:r>
          </a:p>
        </p:txBody>
      </p:sp>
      <p:pic>
        <p:nvPicPr>
          <p:cNvPr id="8" name="Content Placeholder 7" descr="Assortment of colourful pins.">
            <a:extLst>
              <a:ext uri="{FF2B5EF4-FFF2-40B4-BE49-F238E27FC236}">
                <a16:creationId xmlns:a16="http://schemas.microsoft.com/office/drawing/2014/main" id="{4CECB20F-6966-4B22-93E2-8AE93DA6B9C8}"/>
              </a:ext>
            </a:extLst>
          </p:cNvPr>
          <p:cNvPicPr>
            <a:picLocks noGrp="1" noChangeAspect="1"/>
          </p:cNvPicPr>
          <p:nvPr>
            <p:ph type="pic" sz="quarter" idx="13"/>
          </p:nvPr>
        </p:nvPicPr>
        <p:blipFill>
          <a:blip r:embed="rId3"/>
          <a:srcRect l="18883" r="16901" b="2"/>
          <a:stretch>
            <a:fillRect/>
          </a:stretch>
        </p:blipFill>
        <p:spPr>
          <a:xfrm>
            <a:off x="7675658" y="2093976"/>
            <a:ext cx="3941064" cy="4096512"/>
          </a:xfrm>
          <a:prstGeom prst="rect">
            <a:avLst/>
          </a:prstGeom>
          <a:noFill/>
        </p:spPr>
      </p:pic>
      <p:sp>
        <p:nvSpPr>
          <p:cNvPr id="4" name="Date Placeholder 3">
            <a:extLst>
              <a:ext uri="{FF2B5EF4-FFF2-40B4-BE49-F238E27FC236}">
                <a16:creationId xmlns:a16="http://schemas.microsoft.com/office/drawing/2014/main" id="{296D4D5A-CBB0-09FB-CFA7-7EC87999AE79}"/>
              </a:ext>
            </a:extLst>
          </p:cNvPr>
          <p:cNvSpPr>
            <a:spLocks noGrp="1"/>
          </p:cNvSpPr>
          <p:nvPr>
            <p:ph type="dt" sz="half" idx="14"/>
          </p:nvPr>
        </p:nvSpPr>
        <p:spPr>
          <a:xfrm>
            <a:off x="838200" y="6356350"/>
            <a:ext cx="2743200" cy="365125"/>
          </a:xfrm>
        </p:spPr>
        <p:txBody>
          <a:bodyPr vert="horz" lIns="91440" tIns="45720" rIns="91440" bIns="45720" rtlCol="0" anchor="ctr">
            <a:normAutofit/>
          </a:bodyPr>
          <a:lstStyle/>
          <a:p>
            <a:pPr>
              <a:spcAft>
                <a:spcPts val="600"/>
              </a:spcAft>
              <a:defRPr/>
            </a:pPr>
            <a:fld id="{9EAD527F-9C49-4481-A18C-80BA2EA99E79}" type="datetime1">
              <a:rPr lang="en-US" smtClean="0">
                <a:solidFill>
                  <a:prstClr val="black">
                    <a:tint val="75000"/>
                  </a:prstClr>
                </a:solidFill>
                <a:latin typeface="Calibri" panose="020F0502020204030204"/>
              </a:rPr>
              <a:pPr>
                <a:spcAft>
                  <a:spcPts val="600"/>
                </a:spcAft>
                <a:defRPr/>
              </a:pPr>
              <a:t>9/22/25</a:t>
            </a:fld>
            <a:endParaRPr lang="en-US">
              <a:solidFill>
                <a:prstClr val="black">
                  <a:tint val="75000"/>
                </a:prstClr>
              </a:solidFill>
              <a:latin typeface="Calibri" panose="020F0502020204030204"/>
            </a:endParaRPr>
          </a:p>
        </p:txBody>
      </p:sp>
      <p:sp>
        <p:nvSpPr>
          <p:cNvPr id="3" name="Footer Placeholder 2">
            <a:extLst>
              <a:ext uri="{FF2B5EF4-FFF2-40B4-BE49-F238E27FC236}">
                <a16:creationId xmlns:a16="http://schemas.microsoft.com/office/drawing/2014/main" id="{E4A1ED57-6A8C-999C-1816-81DE756176DB}"/>
              </a:ext>
            </a:extLst>
          </p:cNvPr>
          <p:cNvSpPr>
            <a:spLocks noGrp="1"/>
          </p:cNvSpPr>
          <p:nvPr>
            <p:ph type="ftr" sz="quarter" idx="15"/>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prstClr val="black">
                    <a:tint val="75000"/>
                  </a:prstClr>
                </a:solidFill>
                <a:latin typeface="Calibri" panose="020F0502020204030204"/>
                <a:ea typeface="+mn-ea"/>
                <a:cs typeface="+mn-cs"/>
              </a:rPr>
              <a:t>Footer Text</a:t>
            </a:r>
          </a:p>
        </p:txBody>
      </p:sp>
      <p:sp>
        <p:nvSpPr>
          <p:cNvPr id="5" name="Slide Number Placeholder 4">
            <a:extLst>
              <a:ext uri="{FF2B5EF4-FFF2-40B4-BE49-F238E27FC236}">
                <a16:creationId xmlns:a16="http://schemas.microsoft.com/office/drawing/2014/main" id="{0DEAC4E8-6033-8786-3290-7AF6342DA1BE}"/>
              </a:ext>
            </a:extLst>
          </p:cNvPr>
          <p:cNvSpPr>
            <a:spLocks noGrp="1"/>
          </p:cNvSpPr>
          <p:nvPr>
            <p:ph type="sldNum" sz="quarter" idx="16"/>
          </p:nvPr>
        </p:nvSpPr>
        <p:spPr>
          <a:xfrm>
            <a:off x="8610600" y="6356350"/>
            <a:ext cx="2743200" cy="365125"/>
          </a:xfrm>
        </p:spPr>
        <p:txBody>
          <a:bodyPr vert="horz" lIns="91440" tIns="45720" rIns="91440" bIns="45720" rtlCol="0" anchor="ctr">
            <a:normAutofit/>
          </a:bodyPr>
          <a:lstStyle/>
          <a:p>
            <a:pPr>
              <a:spcAft>
                <a:spcPts val="600"/>
              </a:spcAft>
              <a:defRPr/>
            </a:pPr>
            <a:fld id="{753D0FD4-819D-4187-8797-C35567B41C78}" type="slidenum">
              <a:rPr lang="en-US" smtClean="0">
                <a:solidFill>
                  <a:prstClr val="black">
                    <a:tint val="75000"/>
                  </a:prstClr>
                </a:solidFill>
                <a:latin typeface="Calibri" panose="020F0502020204030204"/>
              </a:rPr>
              <a:pPr>
                <a:spcAft>
                  <a:spcPts val="600"/>
                </a:spcAft>
                <a:defRPr/>
              </a:pPr>
              <a:t>8</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4590135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052434-4CD9-1634-A725-A02F5C971072}"/>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a:t>Views vs Copies</a:t>
            </a:r>
          </a:p>
        </p:txBody>
      </p:sp>
      <p:sp>
        <p:nvSpPr>
          <p:cNvPr id="1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E1270DD5-233C-7949-5B04-09A6DE6BB9E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119172"/>
          </a:xfrm>
        </p:spPr>
        <p:txBody>
          <a:bodyPr>
            <a:normAutofit/>
          </a:bodyPr>
          <a:lstStyle/>
          <a:p>
            <a:pPr marL="0" indent="0">
              <a:spcBef>
                <a:spcPts val="2500"/>
              </a:spcBef>
              <a:buFont typeface="Arial" panose="020B0604020202020204" pitchFamily="34" charset="0"/>
              <a:buNone/>
            </a:pPr>
            <a:r>
              <a:rPr lang="en-US" sz="1400" b="1"/>
              <a:t>Definition of Views</a:t>
            </a:r>
          </a:p>
          <a:p>
            <a:pPr marL="0" lvl="1" indent="0">
              <a:buFont typeface="Arial" panose="020B0604020202020204" pitchFamily="34" charset="0"/>
              <a:buNone/>
            </a:pPr>
            <a:r>
              <a:rPr lang="en-US" sz="1400"/>
              <a:t>Views are references to original array data, sharing the same memory without copying.</a:t>
            </a:r>
          </a:p>
          <a:p>
            <a:pPr marL="0" indent="0">
              <a:spcBef>
                <a:spcPts val="2500"/>
              </a:spcBef>
              <a:buFont typeface="Arial" panose="020B0604020202020204" pitchFamily="34" charset="0"/>
              <a:buNone/>
            </a:pPr>
            <a:r>
              <a:rPr lang="en-US" sz="1400" b="1"/>
              <a:t>Modification Impact</a:t>
            </a:r>
          </a:p>
          <a:p>
            <a:pPr marL="0" lvl="1" indent="0">
              <a:buFont typeface="Arial" panose="020B0604020202020204" pitchFamily="34" charset="0"/>
              <a:buNone/>
            </a:pPr>
            <a:r>
              <a:rPr lang="en-US" sz="1400"/>
              <a:t>Changing a view modifies the original array, which can cause unintended side effects.</a:t>
            </a:r>
          </a:p>
          <a:p>
            <a:pPr marL="0" indent="0">
              <a:spcBef>
                <a:spcPts val="2500"/>
              </a:spcBef>
              <a:buFont typeface="Arial" panose="020B0604020202020204" pitchFamily="34" charset="0"/>
              <a:buNone/>
            </a:pPr>
            <a:r>
              <a:rPr lang="en-US" sz="1400" b="1"/>
              <a:t>Creating Copies</a:t>
            </a:r>
          </a:p>
          <a:p>
            <a:pPr marL="0" lvl="1" indent="0">
              <a:buFont typeface="Arial" panose="020B0604020202020204" pitchFamily="34" charset="0"/>
              <a:buNone/>
            </a:pPr>
            <a:r>
              <a:rPr lang="en-US" sz="1400"/>
              <a:t>Explicit use of copy() creates an independent array, avoiding side effects from shared data.</a:t>
            </a:r>
          </a:p>
          <a:p>
            <a:pPr marL="0" indent="0">
              <a:spcBef>
                <a:spcPts val="2500"/>
              </a:spcBef>
              <a:buFont typeface="Arial" panose="020B0604020202020204" pitchFamily="34" charset="0"/>
              <a:buNone/>
            </a:pPr>
            <a:r>
              <a:rPr lang="en-US" sz="1400" b="1"/>
              <a:t>Importance of Understanding</a:t>
            </a:r>
          </a:p>
          <a:p>
            <a:pPr marL="0" lvl="1" indent="0">
              <a:buFont typeface="Arial" panose="020B0604020202020204" pitchFamily="34" charset="0"/>
              <a:buNone/>
            </a:pPr>
            <a:r>
              <a:rPr lang="en-US" sz="1400"/>
              <a:t>Knowing the difference prevents bugs and ensures data integrity in array operations.</a:t>
            </a:r>
          </a:p>
        </p:txBody>
      </p:sp>
      <p:pic>
        <p:nvPicPr>
          <p:cNvPr id="8" name="Content Placeholder 7" descr="Shot of a businessman looking thoughtfully at signs against a white background">
            <a:extLst>
              <a:ext uri="{FF2B5EF4-FFF2-40B4-BE49-F238E27FC236}">
                <a16:creationId xmlns:a16="http://schemas.microsoft.com/office/drawing/2014/main" id="{037E84F6-F0C1-4122-9656-54216A9B30FC}"/>
              </a:ext>
            </a:extLst>
          </p:cNvPr>
          <p:cNvPicPr>
            <a:picLocks noGrp="1" noChangeAspect="1"/>
          </p:cNvPicPr>
          <p:nvPr>
            <p:ph type="pic" sz="quarter" idx="13"/>
          </p:nvPr>
        </p:nvPicPr>
        <p:blipFill>
          <a:blip r:embed="rId3"/>
          <a:srcRect l="30127" r="5657" b="2"/>
          <a:stretch>
            <a:fillRect/>
          </a:stretch>
        </p:blipFill>
        <p:spPr>
          <a:xfrm>
            <a:off x="7675658" y="2093976"/>
            <a:ext cx="3941064" cy="4096512"/>
          </a:xfrm>
          <a:prstGeom prst="rect">
            <a:avLst/>
          </a:prstGeom>
          <a:noFill/>
        </p:spPr>
      </p:pic>
      <p:sp>
        <p:nvSpPr>
          <p:cNvPr id="4" name="Date Placeholder 3">
            <a:extLst>
              <a:ext uri="{FF2B5EF4-FFF2-40B4-BE49-F238E27FC236}">
                <a16:creationId xmlns:a16="http://schemas.microsoft.com/office/drawing/2014/main" id="{5C5BBDE8-17D6-01F1-5EB9-C7F6F7493D8E}"/>
              </a:ext>
            </a:extLst>
          </p:cNvPr>
          <p:cNvSpPr>
            <a:spLocks noGrp="1"/>
          </p:cNvSpPr>
          <p:nvPr>
            <p:ph type="dt" sz="half" idx="14"/>
          </p:nvPr>
        </p:nvSpPr>
        <p:spPr>
          <a:xfrm>
            <a:off x="838200" y="6356350"/>
            <a:ext cx="2743200" cy="365125"/>
          </a:xfrm>
        </p:spPr>
        <p:txBody>
          <a:bodyPr vert="horz" lIns="91440" tIns="45720" rIns="91440" bIns="45720" rtlCol="0" anchor="ctr">
            <a:normAutofit/>
          </a:bodyPr>
          <a:lstStyle/>
          <a:p>
            <a:pPr>
              <a:spcAft>
                <a:spcPts val="600"/>
              </a:spcAft>
              <a:defRPr/>
            </a:pPr>
            <a:fld id="{9EAD527F-9C49-4481-A18C-80BA2EA99E79}" type="datetime1">
              <a:rPr lang="en-US" smtClean="0">
                <a:solidFill>
                  <a:prstClr val="black">
                    <a:tint val="75000"/>
                  </a:prstClr>
                </a:solidFill>
                <a:latin typeface="Calibri" panose="020F0502020204030204"/>
              </a:rPr>
              <a:pPr>
                <a:spcAft>
                  <a:spcPts val="600"/>
                </a:spcAft>
                <a:defRPr/>
              </a:pPr>
              <a:t>9/22/25</a:t>
            </a:fld>
            <a:endParaRPr lang="en-US">
              <a:solidFill>
                <a:prstClr val="black">
                  <a:tint val="75000"/>
                </a:prstClr>
              </a:solidFill>
              <a:latin typeface="Calibri" panose="020F0502020204030204"/>
            </a:endParaRPr>
          </a:p>
        </p:txBody>
      </p:sp>
      <p:sp>
        <p:nvSpPr>
          <p:cNvPr id="3" name="Footer Placeholder 2">
            <a:extLst>
              <a:ext uri="{FF2B5EF4-FFF2-40B4-BE49-F238E27FC236}">
                <a16:creationId xmlns:a16="http://schemas.microsoft.com/office/drawing/2014/main" id="{565C33E4-C125-A142-0DFD-6A46E6274DA6}"/>
              </a:ext>
            </a:extLst>
          </p:cNvPr>
          <p:cNvSpPr>
            <a:spLocks noGrp="1"/>
          </p:cNvSpPr>
          <p:nvPr>
            <p:ph type="ftr" sz="quarter" idx="15"/>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prstClr val="black">
                    <a:tint val="75000"/>
                  </a:prstClr>
                </a:solidFill>
                <a:latin typeface="Calibri" panose="020F0502020204030204"/>
                <a:ea typeface="+mn-ea"/>
                <a:cs typeface="+mn-cs"/>
              </a:rPr>
              <a:t>Footer Text</a:t>
            </a:r>
          </a:p>
        </p:txBody>
      </p:sp>
      <p:sp>
        <p:nvSpPr>
          <p:cNvPr id="5" name="Slide Number Placeholder 4">
            <a:extLst>
              <a:ext uri="{FF2B5EF4-FFF2-40B4-BE49-F238E27FC236}">
                <a16:creationId xmlns:a16="http://schemas.microsoft.com/office/drawing/2014/main" id="{55710425-A4D4-24B6-7383-98F0B24367E9}"/>
              </a:ext>
            </a:extLst>
          </p:cNvPr>
          <p:cNvSpPr>
            <a:spLocks noGrp="1"/>
          </p:cNvSpPr>
          <p:nvPr>
            <p:ph type="sldNum" sz="quarter" idx="16"/>
          </p:nvPr>
        </p:nvSpPr>
        <p:spPr>
          <a:xfrm>
            <a:off x="8610600" y="6356350"/>
            <a:ext cx="2743200" cy="365125"/>
          </a:xfrm>
        </p:spPr>
        <p:txBody>
          <a:bodyPr vert="horz" lIns="91440" tIns="45720" rIns="91440" bIns="45720" rtlCol="0" anchor="ctr">
            <a:normAutofit/>
          </a:bodyPr>
          <a:lstStyle/>
          <a:p>
            <a:pPr>
              <a:spcAft>
                <a:spcPts val="600"/>
              </a:spcAft>
              <a:defRPr/>
            </a:pPr>
            <a:fld id="{753D0FD4-819D-4187-8797-C35567B41C78}" type="slidenum">
              <a:rPr lang="en-US" smtClean="0">
                <a:solidFill>
                  <a:prstClr val="black">
                    <a:tint val="75000"/>
                  </a:prstClr>
                </a:solidFill>
                <a:latin typeface="Calibri" panose="020F0502020204030204"/>
              </a:rPr>
              <a:pPr>
                <a:spcAft>
                  <a:spcPts val="600"/>
                </a:spcAft>
                <a:defRPr/>
              </a:pPr>
              <a:t>9</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16926828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ABB30E-EF88-E66C-CA64-51C9337DA630}"/>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a:t>Reshaping Arrays</a:t>
            </a:r>
          </a:p>
        </p:txBody>
      </p:sp>
      <p:sp>
        <p:nvSpPr>
          <p:cNvPr id="1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F91A60F3-85B3-C1B5-70E2-5C85FEEF3E6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119172"/>
          </a:xfrm>
        </p:spPr>
        <p:txBody>
          <a:bodyPr>
            <a:normAutofit/>
          </a:bodyPr>
          <a:lstStyle/>
          <a:p>
            <a:pPr marL="0" indent="0">
              <a:spcBef>
                <a:spcPts val="2500"/>
              </a:spcBef>
              <a:buFont typeface="Arial" panose="020B0604020202020204" pitchFamily="34" charset="0"/>
              <a:buNone/>
            </a:pPr>
            <a:r>
              <a:rPr lang="en-US" sz="1400" b="1"/>
              <a:t>Purpose of Reshaping</a:t>
            </a:r>
          </a:p>
          <a:p>
            <a:pPr marL="0" lvl="1" indent="0">
              <a:buFont typeface="Arial" panose="020B0604020202020204" pitchFamily="34" charset="0"/>
              <a:buNone/>
            </a:pPr>
            <a:r>
              <a:rPr lang="en-US" sz="1400"/>
              <a:t>Reshaping changes array dimensions without altering its data, enabling flexible data manipulation.</a:t>
            </a:r>
          </a:p>
          <a:p>
            <a:pPr marL="0" indent="0">
              <a:spcBef>
                <a:spcPts val="2500"/>
              </a:spcBef>
              <a:buFont typeface="Arial" panose="020B0604020202020204" pitchFamily="34" charset="0"/>
              <a:buNone/>
            </a:pPr>
            <a:r>
              <a:rPr lang="en-US" sz="1400" b="1"/>
              <a:t>Using the reshape() Method</a:t>
            </a:r>
          </a:p>
          <a:p>
            <a:pPr marL="0" lvl="1" indent="0">
              <a:buFont typeface="Arial" panose="020B0604020202020204" pitchFamily="34" charset="0"/>
              <a:buNone/>
            </a:pPr>
            <a:r>
              <a:rPr lang="en-US" sz="1400"/>
              <a:t>The reshape() method adjusts array shape, like converting a 1D array to 2D with specific dimensions.</a:t>
            </a:r>
          </a:p>
          <a:p>
            <a:pPr marL="0" indent="0">
              <a:spcBef>
                <a:spcPts val="2500"/>
              </a:spcBef>
              <a:buFont typeface="Arial" panose="020B0604020202020204" pitchFamily="34" charset="0"/>
              <a:buNone/>
            </a:pPr>
            <a:r>
              <a:rPr lang="en-US" sz="1400" b="1"/>
              <a:t>Dimension Size Constraints</a:t>
            </a:r>
          </a:p>
          <a:p>
            <a:pPr marL="0" lvl="1" indent="0">
              <a:buFont typeface="Arial" panose="020B0604020202020204" pitchFamily="34" charset="0"/>
              <a:buNone/>
            </a:pPr>
            <a:r>
              <a:rPr lang="en-US" sz="1400"/>
              <a:t>Total elements must remain constant; -1 can be used to auto-calculate one dimension size.</a:t>
            </a:r>
          </a:p>
          <a:p>
            <a:pPr marL="0" indent="0">
              <a:spcBef>
                <a:spcPts val="2500"/>
              </a:spcBef>
              <a:buFont typeface="Arial" panose="020B0604020202020204" pitchFamily="34" charset="0"/>
              <a:buNone/>
            </a:pPr>
            <a:r>
              <a:rPr lang="en-US" sz="1400" b="1"/>
              <a:t>Applications in Computing</a:t>
            </a:r>
          </a:p>
          <a:p>
            <a:pPr marL="0" lvl="1" indent="0">
              <a:buFont typeface="Arial" panose="020B0604020202020204" pitchFamily="34" charset="0"/>
              <a:buNone/>
            </a:pPr>
            <a:r>
              <a:rPr lang="en-US" sz="1400"/>
              <a:t>Reshaping prepares data for machine learning and computational tasks needing specific input shapes.</a:t>
            </a:r>
          </a:p>
        </p:txBody>
      </p:sp>
      <p:pic>
        <p:nvPicPr>
          <p:cNvPr id="8" name="Content Placeholder 7" descr="glass cubes on white background.">
            <a:extLst>
              <a:ext uri="{FF2B5EF4-FFF2-40B4-BE49-F238E27FC236}">
                <a16:creationId xmlns:a16="http://schemas.microsoft.com/office/drawing/2014/main" id="{995C4BEA-8EF5-43C5-992F-D5E4D25B9859}"/>
              </a:ext>
            </a:extLst>
          </p:cNvPr>
          <p:cNvPicPr>
            <a:picLocks noGrp="1" noChangeAspect="1"/>
          </p:cNvPicPr>
          <p:nvPr>
            <p:ph type="pic" sz="quarter" idx="13"/>
          </p:nvPr>
        </p:nvPicPr>
        <p:blipFill>
          <a:blip r:embed="rId3"/>
          <a:srcRect l="9588" r="18258"/>
          <a:stretch>
            <a:fillRect/>
          </a:stretch>
        </p:blipFill>
        <p:spPr>
          <a:xfrm>
            <a:off x="7675658" y="2093976"/>
            <a:ext cx="3941064" cy="4096512"/>
          </a:xfrm>
          <a:prstGeom prst="rect">
            <a:avLst/>
          </a:prstGeom>
          <a:noFill/>
        </p:spPr>
      </p:pic>
      <p:sp>
        <p:nvSpPr>
          <p:cNvPr id="4" name="Date Placeholder 3">
            <a:extLst>
              <a:ext uri="{FF2B5EF4-FFF2-40B4-BE49-F238E27FC236}">
                <a16:creationId xmlns:a16="http://schemas.microsoft.com/office/drawing/2014/main" id="{9A6B337C-4DD5-90CC-8469-A39FD282B5FE}"/>
              </a:ext>
            </a:extLst>
          </p:cNvPr>
          <p:cNvSpPr>
            <a:spLocks noGrp="1"/>
          </p:cNvSpPr>
          <p:nvPr>
            <p:ph type="dt" sz="half" idx="14"/>
          </p:nvPr>
        </p:nvSpPr>
        <p:spPr>
          <a:xfrm>
            <a:off x="838200" y="6356350"/>
            <a:ext cx="2743200" cy="365125"/>
          </a:xfrm>
        </p:spPr>
        <p:txBody>
          <a:bodyPr vert="horz" lIns="91440" tIns="45720" rIns="91440" bIns="45720" rtlCol="0" anchor="ctr">
            <a:normAutofit/>
          </a:bodyPr>
          <a:lstStyle/>
          <a:p>
            <a:pPr>
              <a:spcAft>
                <a:spcPts val="600"/>
              </a:spcAft>
              <a:defRPr/>
            </a:pPr>
            <a:fld id="{9EAD527F-9C49-4481-A18C-80BA2EA99E79}" type="datetime1">
              <a:rPr lang="en-US" smtClean="0">
                <a:solidFill>
                  <a:prstClr val="black">
                    <a:tint val="75000"/>
                  </a:prstClr>
                </a:solidFill>
                <a:latin typeface="Calibri" panose="020F0502020204030204"/>
              </a:rPr>
              <a:pPr>
                <a:spcAft>
                  <a:spcPts val="600"/>
                </a:spcAft>
                <a:defRPr/>
              </a:pPr>
              <a:t>9/22/25</a:t>
            </a:fld>
            <a:endParaRPr lang="en-US">
              <a:solidFill>
                <a:prstClr val="black">
                  <a:tint val="75000"/>
                </a:prstClr>
              </a:solidFill>
              <a:latin typeface="Calibri" panose="020F0502020204030204"/>
            </a:endParaRPr>
          </a:p>
        </p:txBody>
      </p:sp>
      <p:sp>
        <p:nvSpPr>
          <p:cNvPr id="3" name="Footer Placeholder 2">
            <a:extLst>
              <a:ext uri="{FF2B5EF4-FFF2-40B4-BE49-F238E27FC236}">
                <a16:creationId xmlns:a16="http://schemas.microsoft.com/office/drawing/2014/main" id="{DB7BB173-0F9C-00CB-A4B8-C0F62282B71B}"/>
              </a:ext>
            </a:extLst>
          </p:cNvPr>
          <p:cNvSpPr>
            <a:spLocks noGrp="1"/>
          </p:cNvSpPr>
          <p:nvPr>
            <p:ph type="ftr" sz="quarter" idx="15"/>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prstClr val="black">
                    <a:tint val="75000"/>
                  </a:prstClr>
                </a:solidFill>
                <a:latin typeface="Calibri" panose="020F0502020204030204"/>
                <a:ea typeface="+mn-ea"/>
                <a:cs typeface="+mn-cs"/>
              </a:rPr>
              <a:t>Footer Text</a:t>
            </a:r>
          </a:p>
        </p:txBody>
      </p:sp>
      <p:sp>
        <p:nvSpPr>
          <p:cNvPr id="5" name="Slide Number Placeholder 4">
            <a:extLst>
              <a:ext uri="{FF2B5EF4-FFF2-40B4-BE49-F238E27FC236}">
                <a16:creationId xmlns:a16="http://schemas.microsoft.com/office/drawing/2014/main" id="{9555B37C-E7E0-ED24-72DE-C7CAF4AFAA9C}"/>
              </a:ext>
            </a:extLst>
          </p:cNvPr>
          <p:cNvSpPr>
            <a:spLocks noGrp="1"/>
          </p:cNvSpPr>
          <p:nvPr>
            <p:ph type="sldNum" sz="quarter" idx="16"/>
          </p:nvPr>
        </p:nvSpPr>
        <p:spPr>
          <a:xfrm>
            <a:off x="8610600" y="6356350"/>
            <a:ext cx="2743200" cy="365125"/>
          </a:xfrm>
        </p:spPr>
        <p:txBody>
          <a:bodyPr vert="horz" lIns="91440" tIns="45720" rIns="91440" bIns="45720" rtlCol="0" anchor="ctr">
            <a:normAutofit/>
          </a:bodyPr>
          <a:lstStyle/>
          <a:p>
            <a:pPr>
              <a:spcAft>
                <a:spcPts val="600"/>
              </a:spcAft>
              <a:defRPr/>
            </a:pPr>
            <a:fld id="{753D0FD4-819D-4187-8797-C35567B41C78}" type="slidenum">
              <a:rPr lang="en-US" smtClean="0">
                <a:solidFill>
                  <a:prstClr val="black">
                    <a:tint val="75000"/>
                  </a:prstClr>
                </a:solidFill>
                <a:latin typeface="Calibri" panose="020F0502020204030204"/>
              </a:rPr>
              <a:pPr>
                <a:spcAft>
                  <a:spcPts val="600"/>
                </a:spcAft>
                <a:defRPr/>
              </a:pPr>
              <a:t>10</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5199523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Placeholder 7" descr="DNA code on large LED screen">
            <a:extLst>
              <a:ext uri="{FF2B5EF4-FFF2-40B4-BE49-F238E27FC236}">
                <a16:creationId xmlns:a16="http://schemas.microsoft.com/office/drawing/2014/main" id="{D4BB62E8-93B7-AE31-BCE6-0804369675CE}"/>
              </a:ext>
            </a:extLst>
          </p:cNvPr>
          <p:cNvPicPr>
            <a:picLocks noChangeAspect="1"/>
          </p:cNvPicPr>
          <p:nvPr/>
        </p:nvPicPr>
        <p:blipFill>
          <a:blip r:embed="rId3"/>
          <a:srcRect r="23298" b="9091"/>
          <a:stretch>
            <a:fillRect/>
          </a:stretch>
        </p:blipFill>
        <p:spPr>
          <a:xfrm>
            <a:off x="3523488" y="10"/>
            <a:ext cx="8668512" cy="6857990"/>
          </a:xfrm>
          <a:prstGeom prst="rect">
            <a:avLst/>
          </a:prstGeom>
          <a:noFill/>
        </p:spPr>
      </p:pic>
      <p:sp>
        <p:nvSpPr>
          <p:cNvPr id="25" name="Rectangle 24">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F499A82-3B66-1945-F718-7786F6C0D723}"/>
              </a:ext>
            </a:extLst>
          </p:cNvPr>
          <p:cNvSpPr>
            <a:spLocks noGrp="1"/>
          </p:cNvSpPr>
          <p:nvPr>
            <p:ph type="title"/>
          </p:nvPr>
        </p:nvSpPr>
        <p:spPr>
          <a:xfrm>
            <a:off x="477981" y="1122363"/>
            <a:ext cx="4023360" cy="3204134"/>
          </a:xfrm>
        </p:spPr>
        <p:txBody>
          <a:bodyPr vert="horz" lIns="91440" tIns="45720" rIns="91440" bIns="45720" rtlCol="0" anchor="b">
            <a:normAutofit/>
          </a:bodyPr>
          <a:lstStyle/>
          <a:p>
            <a:pPr>
              <a:lnSpc>
                <a:spcPct val="90000"/>
              </a:lnSpc>
            </a:pPr>
            <a:r>
              <a:rPr lang="en-US" sz="4800">
                <a:solidFill>
                  <a:schemeClr val="tx1"/>
                </a:solidFill>
              </a:rPr>
              <a:t>Advanced Array Operations</a:t>
            </a:r>
          </a:p>
        </p:txBody>
      </p:sp>
      <p:sp>
        <p:nvSpPr>
          <p:cNvPr id="27" name="Rectangle 2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9" name="Rectangle 2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Date Placeholder 5">
            <a:extLst>
              <a:ext uri="{FF2B5EF4-FFF2-40B4-BE49-F238E27FC236}">
                <a16:creationId xmlns:a16="http://schemas.microsoft.com/office/drawing/2014/main" id="{F4394117-70DA-3BF2-16CA-430A791520A1}"/>
              </a:ext>
            </a:extLst>
          </p:cNvPr>
          <p:cNvSpPr>
            <a:spLocks noGrp="1"/>
          </p:cNvSpPr>
          <p:nvPr>
            <p:ph type="dt" sz="half" idx="10"/>
          </p:nvPr>
        </p:nvSpPr>
        <p:spPr>
          <a:xfrm>
            <a:off x="477981" y="6356350"/>
            <a:ext cx="1214339" cy="365125"/>
          </a:xfrm>
        </p:spPr>
        <p:txBody>
          <a:bodyPr vert="horz" lIns="91440" tIns="45720" rIns="91440" bIns="45720" rtlCol="0" anchor="ctr">
            <a:normAutofit/>
          </a:bodyPr>
          <a:lstStyle/>
          <a:p>
            <a:pPr>
              <a:spcAft>
                <a:spcPts val="600"/>
              </a:spcAft>
              <a:defRPr/>
            </a:pPr>
            <a:fld id="{BBB8170F-0370-4A38-8BF3-83D69476AE62}" type="datetime1">
              <a:rPr lang="en-US">
                <a:solidFill>
                  <a:schemeClr val="tx1">
                    <a:lumMod val="50000"/>
                    <a:lumOff val="50000"/>
                  </a:schemeClr>
                </a:solidFill>
                <a:latin typeface="Calibri" panose="020F0502020204030204"/>
              </a:rPr>
              <a:pPr>
                <a:spcAft>
                  <a:spcPts val="600"/>
                </a:spcAft>
                <a:defRPr/>
              </a:pPr>
              <a:t>9/22/25</a:t>
            </a:fld>
            <a:endParaRPr lang="en-US">
              <a:solidFill>
                <a:schemeClr val="tx1">
                  <a:lumMod val="50000"/>
                  <a:lumOff val="50000"/>
                </a:schemeClr>
              </a:solidFill>
              <a:latin typeface="Calibri" panose="020F0502020204030204"/>
            </a:endParaRPr>
          </a:p>
        </p:txBody>
      </p:sp>
      <p:sp>
        <p:nvSpPr>
          <p:cNvPr id="4" name="Footer Placeholder 3">
            <a:extLst>
              <a:ext uri="{FF2B5EF4-FFF2-40B4-BE49-F238E27FC236}">
                <a16:creationId xmlns:a16="http://schemas.microsoft.com/office/drawing/2014/main" id="{104F8AEC-2A96-6F49-4090-6887DF3AAAB0}"/>
              </a:ext>
            </a:extLst>
          </p:cNvPr>
          <p:cNvSpPr>
            <a:spLocks noGrp="1"/>
          </p:cNvSpPr>
          <p:nvPr>
            <p:ph type="ftr" sz="quarter" idx="11"/>
          </p:nvPr>
        </p:nvSpPr>
        <p:spPr>
          <a:xfrm>
            <a:off x="1692321" y="6356350"/>
            <a:ext cx="2809017" cy="365125"/>
          </a:xfrm>
        </p:spPr>
        <p:txBody>
          <a:bodyPr vert="horz" lIns="91440" tIns="45720" rIns="91440" bIns="45720" rtlCol="0" anchor="ctr">
            <a:normAutofit/>
          </a:bodyPr>
          <a:lstStyle/>
          <a:p>
            <a:pPr algn="r">
              <a:spcAft>
                <a:spcPts val="600"/>
              </a:spcAft>
              <a:defRPr/>
            </a:pPr>
            <a:r>
              <a:rPr lang="en-US" kern="1200">
                <a:solidFill>
                  <a:schemeClr val="tx1">
                    <a:lumMod val="50000"/>
                    <a:lumOff val="50000"/>
                  </a:schemeClr>
                </a:solidFill>
                <a:latin typeface="Calibri" panose="020F0502020204030204"/>
                <a:ea typeface="+mn-ea"/>
                <a:cs typeface="+mn-cs"/>
              </a:rPr>
              <a:t>Footer Text</a:t>
            </a:r>
          </a:p>
        </p:txBody>
      </p:sp>
      <p:sp>
        <p:nvSpPr>
          <p:cNvPr id="7" name="Slide Number Placeholder 6">
            <a:extLst>
              <a:ext uri="{FF2B5EF4-FFF2-40B4-BE49-F238E27FC236}">
                <a16:creationId xmlns:a16="http://schemas.microsoft.com/office/drawing/2014/main" id="{D4E934B5-07A7-1ABD-30FF-20E46CBC6348}"/>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753D0FD4-819D-4187-8797-C35567B41C78}" type="slidenum">
              <a:rPr lang="en-US">
                <a:solidFill>
                  <a:schemeClr val="bg1"/>
                </a:solidFill>
                <a:latin typeface="Calibri" panose="020F0502020204030204"/>
              </a:rPr>
              <a:pPr>
                <a:spcAft>
                  <a:spcPts val="600"/>
                </a:spcAft>
                <a:defRPr/>
              </a:pPr>
              <a:t>11</a:t>
            </a:fld>
            <a:endParaRPr lang="en-US">
              <a:solidFill>
                <a:schemeClr val="bg1"/>
              </a:solidFill>
              <a:latin typeface="Calibri" panose="020F0502020204030204"/>
            </a:endParaRPr>
          </a:p>
        </p:txBody>
      </p:sp>
    </p:spTree>
    <p:extLst>
      <p:ext uri="{BB962C8B-B14F-4D97-AF65-F5344CB8AC3E}">
        <p14:creationId xmlns:p14="http://schemas.microsoft.com/office/powerpoint/2010/main" val="2267168491"/>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EDFED7-F0AD-E3F2-AAF3-B4FE40662255}"/>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a:t>Creating Arrays with Functions</a:t>
            </a:r>
          </a:p>
        </p:txBody>
      </p:sp>
      <p:sp>
        <p:nvSpPr>
          <p:cNvPr id="1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DCE2560E-6CC1-C7BB-AE13-8DF43A67A60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119172"/>
          </a:xfrm>
        </p:spPr>
        <p:txBody>
          <a:bodyPr>
            <a:normAutofit/>
          </a:bodyPr>
          <a:lstStyle/>
          <a:p>
            <a:pPr marL="0" indent="0">
              <a:spcBef>
                <a:spcPts val="2500"/>
              </a:spcBef>
              <a:buFont typeface="Arial" panose="020B0604020202020204" pitchFamily="34" charset="0"/>
              <a:buNone/>
            </a:pPr>
            <a:r>
              <a:rPr lang="en-US" sz="1400" b="1"/>
              <a:t>Zero and One Arrays</a:t>
            </a:r>
          </a:p>
          <a:p>
            <a:pPr marL="0" lvl="1" indent="0">
              <a:buFont typeface="Arial" panose="020B0604020202020204" pitchFamily="34" charset="0"/>
              <a:buNone/>
            </a:pPr>
            <a:r>
              <a:rPr lang="en-US" sz="1400"/>
              <a:t>np.zeros() creates arrays filled with zeros, and np.ones() creates arrays filled with ones for easy initialization.</a:t>
            </a:r>
          </a:p>
          <a:p>
            <a:pPr marL="0" indent="0">
              <a:spcBef>
                <a:spcPts val="2500"/>
              </a:spcBef>
              <a:buFont typeface="Arial" panose="020B0604020202020204" pitchFamily="34" charset="0"/>
              <a:buNone/>
            </a:pPr>
            <a:r>
              <a:rPr lang="en-US" sz="1400" b="1"/>
              <a:t>Uninitialized Arrays</a:t>
            </a:r>
          </a:p>
          <a:p>
            <a:pPr marL="0" lvl="1" indent="0">
              <a:buFont typeface="Arial" panose="020B0604020202020204" pitchFamily="34" charset="0"/>
              <a:buNone/>
            </a:pPr>
            <a:r>
              <a:rPr lang="en-US" sz="1400"/>
              <a:t>np.empty() creates uninitialized arrays which can be used for performance optimization in certain applications.</a:t>
            </a:r>
          </a:p>
          <a:p>
            <a:pPr marL="0" indent="0">
              <a:spcBef>
                <a:spcPts val="2500"/>
              </a:spcBef>
              <a:buFont typeface="Arial" panose="020B0604020202020204" pitchFamily="34" charset="0"/>
              <a:buNone/>
            </a:pPr>
            <a:r>
              <a:rPr lang="en-US" sz="1400" b="1"/>
              <a:t>Range-based Arrays</a:t>
            </a:r>
          </a:p>
          <a:p>
            <a:pPr marL="0" lvl="1" indent="0">
              <a:buFont typeface="Arial" panose="020B0604020202020204" pitchFamily="34" charset="0"/>
              <a:buNone/>
            </a:pPr>
            <a:r>
              <a:rPr lang="en-US" sz="1400"/>
              <a:t>np.arange() generates arrays with evenly spaced values within a specified numerical range.</a:t>
            </a:r>
          </a:p>
          <a:p>
            <a:pPr marL="0" indent="0">
              <a:spcBef>
                <a:spcPts val="2500"/>
              </a:spcBef>
              <a:buFont typeface="Arial" panose="020B0604020202020204" pitchFamily="34" charset="0"/>
              <a:buNone/>
            </a:pPr>
            <a:r>
              <a:rPr lang="en-US" sz="1400" b="1"/>
              <a:t>Linearly Spaced Arrays</a:t>
            </a:r>
          </a:p>
          <a:p>
            <a:pPr marL="0" lvl="1" indent="0">
              <a:buFont typeface="Arial" panose="020B0604020202020204" pitchFamily="34" charset="0"/>
              <a:buNone/>
            </a:pPr>
            <a:r>
              <a:rPr lang="en-US" sz="1400"/>
              <a:t>np.linspace() generates arrays with a specific number of evenly spaced values between two endpoints.</a:t>
            </a:r>
          </a:p>
        </p:txBody>
      </p:sp>
      <p:pic>
        <p:nvPicPr>
          <p:cNvPr id="8" name="Content Placeholder 7" descr="Photograph of illuminated red and green balls.">
            <a:extLst>
              <a:ext uri="{FF2B5EF4-FFF2-40B4-BE49-F238E27FC236}">
                <a16:creationId xmlns:a16="http://schemas.microsoft.com/office/drawing/2014/main" id="{0BB7FC9E-E8FE-402A-B578-0506410D8A1C}"/>
              </a:ext>
            </a:extLst>
          </p:cNvPr>
          <p:cNvPicPr>
            <a:picLocks noGrp="1" noChangeAspect="1"/>
          </p:cNvPicPr>
          <p:nvPr>
            <p:ph type="pic" sz="quarter" idx="13"/>
          </p:nvPr>
        </p:nvPicPr>
        <p:blipFill>
          <a:blip r:embed="rId3"/>
          <a:srcRect l="19285" r="16499" b="2"/>
          <a:stretch>
            <a:fillRect/>
          </a:stretch>
        </p:blipFill>
        <p:spPr>
          <a:xfrm>
            <a:off x="7675658" y="2093976"/>
            <a:ext cx="3941064" cy="4096512"/>
          </a:xfrm>
          <a:prstGeom prst="rect">
            <a:avLst/>
          </a:prstGeom>
          <a:noFill/>
        </p:spPr>
      </p:pic>
      <p:sp>
        <p:nvSpPr>
          <p:cNvPr id="4" name="Date Placeholder 3">
            <a:extLst>
              <a:ext uri="{FF2B5EF4-FFF2-40B4-BE49-F238E27FC236}">
                <a16:creationId xmlns:a16="http://schemas.microsoft.com/office/drawing/2014/main" id="{41C69269-DBF5-6199-0C19-3E4215E6749D}"/>
              </a:ext>
            </a:extLst>
          </p:cNvPr>
          <p:cNvSpPr>
            <a:spLocks noGrp="1"/>
          </p:cNvSpPr>
          <p:nvPr>
            <p:ph type="dt" sz="half" idx="14"/>
          </p:nvPr>
        </p:nvSpPr>
        <p:spPr>
          <a:xfrm>
            <a:off x="838200" y="6356350"/>
            <a:ext cx="2743200" cy="365125"/>
          </a:xfrm>
        </p:spPr>
        <p:txBody>
          <a:bodyPr vert="horz" lIns="91440" tIns="45720" rIns="91440" bIns="45720" rtlCol="0" anchor="ctr">
            <a:normAutofit/>
          </a:bodyPr>
          <a:lstStyle/>
          <a:p>
            <a:pPr>
              <a:spcAft>
                <a:spcPts val="600"/>
              </a:spcAft>
              <a:defRPr/>
            </a:pPr>
            <a:fld id="{9EAD527F-9C49-4481-A18C-80BA2EA99E79}" type="datetime1">
              <a:rPr lang="en-US" smtClean="0">
                <a:solidFill>
                  <a:prstClr val="black">
                    <a:tint val="75000"/>
                  </a:prstClr>
                </a:solidFill>
                <a:latin typeface="Calibri" panose="020F0502020204030204"/>
              </a:rPr>
              <a:pPr>
                <a:spcAft>
                  <a:spcPts val="600"/>
                </a:spcAft>
                <a:defRPr/>
              </a:pPr>
              <a:t>9/22/25</a:t>
            </a:fld>
            <a:endParaRPr lang="en-US">
              <a:solidFill>
                <a:prstClr val="black">
                  <a:tint val="75000"/>
                </a:prstClr>
              </a:solidFill>
              <a:latin typeface="Calibri" panose="020F0502020204030204"/>
            </a:endParaRPr>
          </a:p>
        </p:txBody>
      </p:sp>
      <p:sp>
        <p:nvSpPr>
          <p:cNvPr id="3" name="Footer Placeholder 2">
            <a:extLst>
              <a:ext uri="{FF2B5EF4-FFF2-40B4-BE49-F238E27FC236}">
                <a16:creationId xmlns:a16="http://schemas.microsoft.com/office/drawing/2014/main" id="{9264A017-3BE8-8947-0B6D-D92F28BCE978}"/>
              </a:ext>
            </a:extLst>
          </p:cNvPr>
          <p:cNvSpPr>
            <a:spLocks noGrp="1"/>
          </p:cNvSpPr>
          <p:nvPr>
            <p:ph type="ftr" sz="quarter" idx="15"/>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prstClr val="black">
                    <a:tint val="75000"/>
                  </a:prstClr>
                </a:solidFill>
                <a:latin typeface="Calibri" panose="020F0502020204030204"/>
                <a:ea typeface="+mn-ea"/>
                <a:cs typeface="+mn-cs"/>
              </a:rPr>
              <a:t>Footer Text</a:t>
            </a:r>
          </a:p>
        </p:txBody>
      </p:sp>
      <p:sp>
        <p:nvSpPr>
          <p:cNvPr id="5" name="Slide Number Placeholder 4">
            <a:extLst>
              <a:ext uri="{FF2B5EF4-FFF2-40B4-BE49-F238E27FC236}">
                <a16:creationId xmlns:a16="http://schemas.microsoft.com/office/drawing/2014/main" id="{DA0CE99B-66F5-86DF-10E0-504219B0F25B}"/>
              </a:ext>
            </a:extLst>
          </p:cNvPr>
          <p:cNvSpPr>
            <a:spLocks noGrp="1"/>
          </p:cNvSpPr>
          <p:nvPr>
            <p:ph type="sldNum" sz="quarter" idx="16"/>
          </p:nvPr>
        </p:nvSpPr>
        <p:spPr>
          <a:xfrm>
            <a:off x="8610600" y="6356350"/>
            <a:ext cx="2743200" cy="365125"/>
          </a:xfrm>
        </p:spPr>
        <p:txBody>
          <a:bodyPr vert="horz" lIns="91440" tIns="45720" rIns="91440" bIns="45720" rtlCol="0" anchor="ctr">
            <a:normAutofit/>
          </a:bodyPr>
          <a:lstStyle/>
          <a:p>
            <a:pPr>
              <a:spcAft>
                <a:spcPts val="600"/>
              </a:spcAft>
              <a:defRPr/>
            </a:pPr>
            <a:fld id="{753D0FD4-819D-4187-8797-C35567B41C78}" type="slidenum">
              <a:rPr lang="en-US" smtClean="0">
                <a:solidFill>
                  <a:prstClr val="black">
                    <a:tint val="75000"/>
                  </a:prstClr>
                </a:solidFill>
                <a:latin typeface="Calibri" panose="020F0502020204030204"/>
              </a:rPr>
              <a:pPr>
                <a:spcAft>
                  <a:spcPts val="600"/>
                </a:spcAft>
                <a:defRPr/>
              </a:pPr>
              <a:t>12</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34765137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5C11E2-9868-BD81-C606-43392B679F0D}"/>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a:t>Advanced Array Problems</a:t>
            </a:r>
          </a:p>
        </p:txBody>
      </p:sp>
      <p:sp>
        <p:nvSpPr>
          <p:cNvPr id="1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D86911FB-2320-5FEA-88BF-C02688D1BAD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119172"/>
          </a:xfrm>
        </p:spPr>
        <p:txBody>
          <a:bodyPr>
            <a:normAutofit/>
          </a:bodyPr>
          <a:lstStyle/>
          <a:p>
            <a:pPr marL="0" indent="0">
              <a:spcBef>
                <a:spcPts val="2500"/>
              </a:spcBef>
              <a:buFont typeface="Arial" panose="020B0604020202020204" pitchFamily="34" charset="0"/>
              <a:buNone/>
            </a:pPr>
            <a:r>
              <a:rPr lang="en-US" sz="1400" b="1"/>
              <a:t>Array Concatenation</a:t>
            </a:r>
          </a:p>
          <a:p>
            <a:pPr marL="0" lvl="1" indent="0">
              <a:buFont typeface="Arial" panose="020B0604020202020204" pitchFamily="34" charset="0"/>
              <a:buNone/>
            </a:pPr>
            <a:r>
              <a:rPr lang="en-US" sz="1400"/>
              <a:t>Combine two separate arrays into one using np.concatenate, creating a unified dataset for analysis.</a:t>
            </a:r>
          </a:p>
          <a:p>
            <a:pPr marL="0" indent="0">
              <a:spcBef>
                <a:spcPts val="2500"/>
              </a:spcBef>
              <a:buFont typeface="Arial" panose="020B0604020202020204" pitchFamily="34" charset="0"/>
              <a:buNone/>
            </a:pPr>
            <a:r>
              <a:rPr lang="en-US" sz="1400" b="1"/>
              <a:t>Sorting Arrays</a:t>
            </a:r>
          </a:p>
          <a:p>
            <a:pPr marL="0" lvl="1" indent="0">
              <a:buFont typeface="Arial" panose="020B0604020202020204" pitchFamily="34" charset="0"/>
              <a:buNone/>
            </a:pPr>
            <a:r>
              <a:rPr lang="en-US" sz="1400"/>
              <a:t>Sort array elements with np.sort to organize data, making patterns and outliers easier to identify.</a:t>
            </a:r>
          </a:p>
          <a:p>
            <a:pPr marL="0" indent="0">
              <a:spcBef>
                <a:spcPts val="2500"/>
              </a:spcBef>
              <a:buFont typeface="Arial" panose="020B0604020202020204" pitchFamily="34" charset="0"/>
              <a:buNone/>
            </a:pPr>
            <a:r>
              <a:rPr lang="en-US" sz="1400" b="1"/>
              <a:t>Finding Sorting Indices</a:t>
            </a:r>
          </a:p>
          <a:p>
            <a:pPr marL="0" lvl="1" indent="0">
              <a:buFont typeface="Arial" panose="020B0604020202020204" pitchFamily="34" charset="0"/>
              <a:buNone/>
            </a:pPr>
            <a:r>
              <a:rPr lang="en-US" sz="1400"/>
              <a:t>Use np.argsort to get indices for sorting, useful for advanced data analysis and ranking tasks.</a:t>
            </a:r>
          </a:p>
        </p:txBody>
      </p:sp>
      <p:pic>
        <p:nvPicPr>
          <p:cNvPr id="8" name="Content Placeholder 7" descr="Digital financial graph">
            <a:extLst>
              <a:ext uri="{FF2B5EF4-FFF2-40B4-BE49-F238E27FC236}">
                <a16:creationId xmlns:a16="http://schemas.microsoft.com/office/drawing/2014/main" id="{283C2BB0-5C2F-4375-857B-7D364030BC06}"/>
              </a:ext>
            </a:extLst>
          </p:cNvPr>
          <p:cNvPicPr>
            <a:picLocks noGrp="1" noChangeAspect="1"/>
          </p:cNvPicPr>
          <p:nvPr>
            <p:ph type="pic" sz="quarter" idx="13"/>
          </p:nvPr>
        </p:nvPicPr>
        <p:blipFill>
          <a:blip r:embed="rId3"/>
          <a:srcRect l="30239" r="15647" b="2"/>
          <a:stretch>
            <a:fillRect/>
          </a:stretch>
        </p:blipFill>
        <p:spPr>
          <a:xfrm>
            <a:off x="7675658" y="2093976"/>
            <a:ext cx="3941064" cy="4096512"/>
          </a:xfrm>
          <a:prstGeom prst="rect">
            <a:avLst/>
          </a:prstGeom>
          <a:noFill/>
        </p:spPr>
      </p:pic>
      <p:sp>
        <p:nvSpPr>
          <p:cNvPr id="4" name="Date Placeholder 3">
            <a:extLst>
              <a:ext uri="{FF2B5EF4-FFF2-40B4-BE49-F238E27FC236}">
                <a16:creationId xmlns:a16="http://schemas.microsoft.com/office/drawing/2014/main" id="{DD885B8D-28C3-7C3E-4BA0-5E5B1C16DDCB}"/>
              </a:ext>
            </a:extLst>
          </p:cNvPr>
          <p:cNvSpPr>
            <a:spLocks noGrp="1"/>
          </p:cNvSpPr>
          <p:nvPr>
            <p:ph type="dt" sz="half" idx="14"/>
          </p:nvPr>
        </p:nvSpPr>
        <p:spPr>
          <a:xfrm>
            <a:off x="838200" y="6356350"/>
            <a:ext cx="2743200" cy="365125"/>
          </a:xfrm>
        </p:spPr>
        <p:txBody>
          <a:bodyPr vert="horz" lIns="91440" tIns="45720" rIns="91440" bIns="45720" rtlCol="0" anchor="ctr">
            <a:normAutofit/>
          </a:bodyPr>
          <a:lstStyle/>
          <a:p>
            <a:pPr>
              <a:spcAft>
                <a:spcPts val="600"/>
              </a:spcAft>
              <a:defRPr/>
            </a:pPr>
            <a:fld id="{9EAD527F-9C49-4481-A18C-80BA2EA99E79}" type="datetime1">
              <a:rPr lang="en-US" smtClean="0">
                <a:solidFill>
                  <a:prstClr val="black">
                    <a:tint val="75000"/>
                  </a:prstClr>
                </a:solidFill>
                <a:latin typeface="Calibri" panose="020F0502020204030204"/>
              </a:rPr>
              <a:pPr>
                <a:spcAft>
                  <a:spcPts val="600"/>
                </a:spcAft>
                <a:defRPr/>
              </a:pPr>
              <a:t>9/22/25</a:t>
            </a:fld>
            <a:endParaRPr lang="en-US">
              <a:solidFill>
                <a:prstClr val="black">
                  <a:tint val="75000"/>
                </a:prstClr>
              </a:solidFill>
              <a:latin typeface="Calibri" panose="020F0502020204030204"/>
            </a:endParaRPr>
          </a:p>
        </p:txBody>
      </p:sp>
      <p:sp>
        <p:nvSpPr>
          <p:cNvPr id="3" name="Footer Placeholder 2">
            <a:extLst>
              <a:ext uri="{FF2B5EF4-FFF2-40B4-BE49-F238E27FC236}">
                <a16:creationId xmlns:a16="http://schemas.microsoft.com/office/drawing/2014/main" id="{29B0C189-BF62-B92B-0D68-F8A3D4A28A49}"/>
              </a:ext>
            </a:extLst>
          </p:cNvPr>
          <p:cNvSpPr>
            <a:spLocks noGrp="1"/>
          </p:cNvSpPr>
          <p:nvPr>
            <p:ph type="ftr" sz="quarter" idx="15"/>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prstClr val="black">
                    <a:tint val="75000"/>
                  </a:prstClr>
                </a:solidFill>
                <a:latin typeface="Calibri" panose="020F0502020204030204"/>
                <a:ea typeface="+mn-ea"/>
                <a:cs typeface="+mn-cs"/>
              </a:rPr>
              <a:t>Footer Text</a:t>
            </a:r>
          </a:p>
        </p:txBody>
      </p:sp>
      <p:sp>
        <p:nvSpPr>
          <p:cNvPr id="5" name="Slide Number Placeholder 4">
            <a:extLst>
              <a:ext uri="{FF2B5EF4-FFF2-40B4-BE49-F238E27FC236}">
                <a16:creationId xmlns:a16="http://schemas.microsoft.com/office/drawing/2014/main" id="{8058A453-1BC3-B862-88CC-2D8B06012D43}"/>
              </a:ext>
            </a:extLst>
          </p:cNvPr>
          <p:cNvSpPr>
            <a:spLocks noGrp="1"/>
          </p:cNvSpPr>
          <p:nvPr>
            <p:ph type="sldNum" sz="quarter" idx="16"/>
          </p:nvPr>
        </p:nvSpPr>
        <p:spPr>
          <a:xfrm>
            <a:off x="8610600" y="6356350"/>
            <a:ext cx="2743200" cy="365125"/>
          </a:xfrm>
        </p:spPr>
        <p:txBody>
          <a:bodyPr vert="horz" lIns="91440" tIns="45720" rIns="91440" bIns="45720" rtlCol="0" anchor="ctr">
            <a:normAutofit/>
          </a:bodyPr>
          <a:lstStyle/>
          <a:p>
            <a:pPr>
              <a:spcAft>
                <a:spcPts val="600"/>
              </a:spcAft>
              <a:defRPr/>
            </a:pPr>
            <a:fld id="{753D0FD4-819D-4187-8797-C35567B41C78}" type="slidenum">
              <a:rPr lang="en-US" smtClean="0">
                <a:solidFill>
                  <a:prstClr val="black">
                    <a:tint val="75000"/>
                  </a:prstClr>
                </a:solidFill>
                <a:latin typeface="Calibri" panose="020F0502020204030204"/>
              </a:rPr>
              <a:pPr>
                <a:spcAft>
                  <a:spcPts val="600"/>
                </a:spcAft>
                <a:defRPr/>
              </a:pPr>
              <a:t>13</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140336978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6F9A4F-14D4-B43B-7769-2B7584A12523}"/>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4600"/>
              <a:t>🧩 NumPy Challenge : Organize Student Scores</a:t>
            </a:r>
          </a:p>
        </p:txBody>
      </p:sp>
      <p:sp>
        <p:nvSpPr>
          <p:cNvPr id="1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88006F1-E17D-EB1F-2E6F-DE9C7F438559}"/>
              </a:ext>
            </a:extLst>
          </p:cNvPr>
          <p:cNvSpPr>
            <a:spLocks noGrp="1"/>
          </p:cNvSpPr>
          <p:nvPr>
            <p:ph idx="1"/>
          </p:nvPr>
        </p:nvSpPr>
        <p:spPr>
          <a:xfrm>
            <a:off x="572493" y="2071316"/>
            <a:ext cx="6713552" cy="4119172"/>
          </a:xfrm>
        </p:spPr>
        <p:txBody>
          <a:bodyPr vert="horz" lIns="91440" tIns="45720" rIns="91440" bIns="45720" rtlCol="0" anchor="t">
            <a:normAutofit/>
          </a:bodyPr>
          <a:lstStyle/>
          <a:p>
            <a:r>
              <a:rPr lang="en-US" sz="1900"/>
              <a:t>Objective: Merge and arrange student scores from two batches using NumPy.</a:t>
            </a:r>
          </a:p>
          <a:p>
            <a:r>
              <a:rPr lang="en-US" sz="1900"/>
              <a:t>Provided Data includes batch_a_scores and batch_b_scores arrays.</a:t>
            </a:r>
          </a:p>
          <a:p>
            <a:r>
              <a:rPr lang="en-US" sz="1900"/>
              <a:t>Combine scores using np.concatenate to create a single array.</a:t>
            </a:r>
          </a:p>
          <a:p>
            <a:r>
              <a:rPr lang="en-US" sz="1900"/>
              <a:t>Sort the merged scores with np.sort for ordered data.</a:t>
            </a:r>
          </a:p>
          <a:p>
            <a:r>
              <a:rPr lang="en-US" sz="1900"/>
              <a:t>Obtain sorting indices using np.argsort to track order.</a:t>
            </a:r>
          </a:p>
          <a:p>
            <a:r>
              <a:rPr lang="en-US" sz="1900"/>
              <a:t>Find insertion point for a score of 80 using np.searchsorted.</a:t>
            </a:r>
          </a:p>
          <a:p>
            <a:r>
              <a:rPr lang="en-US" sz="1900"/>
              <a:t>Sort students by last name, then first name using np.lexsort.</a:t>
            </a:r>
          </a:p>
        </p:txBody>
      </p:sp>
      <p:pic>
        <p:nvPicPr>
          <p:cNvPr id="8" name="Content Placeholder 7" descr="People using abacus">
            <a:extLst>
              <a:ext uri="{FF2B5EF4-FFF2-40B4-BE49-F238E27FC236}">
                <a16:creationId xmlns:a16="http://schemas.microsoft.com/office/drawing/2014/main" id="{7503A712-E642-44E1-947A-35ED4BE40F4D}"/>
              </a:ext>
            </a:extLst>
          </p:cNvPr>
          <p:cNvPicPr>
            <a:picLocks noGrp="1" noChangeAspect="1"/>
          </p:cNvPicPr>
          <p:nvPr>
            <p:ph type="pic" sz="quarter" idx="13"/>
          </p:nvPr>
        </p:nvPicPr>
        <p:blipFill>
          <a:blip r:embed="rId3"/>
          <a:srcRect l="28720" r="7064" b="2"/>
          <a:stretch>
            <a:fillRect/>
          </a:stretch>
        </p:blipFill>
        <p:spPr>
          <a:xfrm>
            <a:off x="7675658" y="2093976"/>
            <a:ext cx="3941064" cy="4096512"/>
          </a:xfrm>
          <a:prstGeom prst="rect">
            <a:avLst/>
          </a:prstGeom>
          <a:noFill/>
        </p:spPr>
      </p:pic>
      <p:sp>
        <p:nvSpPr>
          <p:cNvPr id="4" name="Date Placeholder 3">
            <a:extLst>
              <a:ext uri="{FF2B5EF4-FFF2-40B4-BE49-F238E27FC236}">
                <a16:creationId xmlns:a16="http://schemas.microsoft.com/office/drawing/2014/main" id="{91363AC1-45E6-213F-AA80-99DCFFBBD036}"/>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defRPr/>
            </a:pPr>
            <a:fld id="{9EAD527F-9C49-4481-A18C-80BA2EA99E79}" type="datetime1">
              <a:rPr lang="en-US" smtClean="0">
                <a:solidFill>
                  <a:prstClr val="black">
                    <a:tint val="75000"/>
                  </a:prstClr>
                </a:solidFill>
                <a:latin typeface="Calibri" panose="020F0502020204030204"/>
              </a:rPr>
              <a:pPr>
                <a:spcAft>
                  <a:spcPts val="600"/>
                </a:spcAft>
                <a:defRPr/>
              </a:pPr>
              <a:t>9/22/25</a:t>
            </a:fld>
            <a:endParaRPr lang="en-US">
              <a:solidFill>
                <a:prstClr val="black">
                  <a:tint val="75000"/>
                </a:prstClr>
              </a:solidFill>
              <a:latin typeface="Calibri" panose="020F0502020204030204"/>
            </a:endParaRPr>
          </a:p>
        </p:txBody>
      </p:sp>
      <p:sp>
        <p:nvSpPr>
          <p:cNvPr id="3" name="Footer Placeholder 2">
            <a:extLst>
              <a:ext uri="{FF2B5EF4-FFF2-40B4-BE49-F238E27FC236}">
                <a16:creationId xmlns:a16="http://schemas.microsoft.com/office/drawing/2014/main" id="{45DC928E-6852-E85F-1946-EC41EE9E0B08}"/>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prstClr val="black">
                    <a:tint val="75000"/>
                  </a:prstClr>
                </a:solidFill>
                <a:latin typeface="Calibri" panose="020F0502020204030204"/>
                <a:ea typeface="+mn-ea"/>
                <a:cs typeface="+mn-cs"/>
              </a:rPr>
              <a:t>Footer Text</a:t>
            </a:r>
          </a:p>
        </p:txBody>
      </p:sp>
      <p:sp>
        <p:nvSpPr>
          <p:cNvPr id="5" name="Slide Number Placeholder 4">
            <a:extLst>
              <a:ext uri="{FF2B5EF4-FFF2-40B4-BE49-F238E27FC236}">
                <a16:creationId xmlns:a16="http://schemas.microsoft.com/office/drawing/2014/main" id="{C0CA61E6-2C0C-23B7-2900-0B619EFB069D}"/>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753D0FD4-819D-4187-8797-C35567B41C78}" type="slidenum">
              <a:rPr lang="en-US" smtClean="0">
                <a:solidFill>
                  <a:prstClr val="black">
                    <a:tint val="75000"/>
                  </a:prstClr>
                </a:solidFill>
                <a:latin typeface="Calibri" panose="020F0502020204030204"/>
              </a:rPr>
              <a:pPr>
                <a:spcAft>
                  <a:spcPts val="600"/>
                </a:spcAft>
                <a:defRPr/>
              </a:pPr>
              <a:t>14</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3047538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73E2E4-CA58-6D43-636E-9C5CD70DC2FE}"/>
              </a:ext>
            </a:extLst>
          </p:cNvPr>
          <p:cNvSpPr>
            <a:spLocks noGrp="1"/>
          </p:cNvSpPr>
          <p:nvPr>
            <p:ph type="title"/>
          </p:nvPr>
        </p:nvSpPr>
        <p:spPr>
          <a:xfrm>
            <a:off x="572493" y="238539"/>
            <a:ext cx="11018520" cy="1434415"/>
          </a:xfrm>
        </p:spPr>
        <p:txBody>
          <a:bodyPr anchor="b">
            <a:normAutofit/>
          </a:bodyPr>
          <a:lstStyle/>
          <a:p>
            <a:r>
              <a:rPr lang="en-US" sz="4600"/>
              <a:t>Broadcasting and Mathematical Operations</a:t>
            </a:r>
          </a:p>
        </p:txBody>
      </p:sp>
      <p:sp>
        <p:nvSpPr>
          <p:cNvPr id="1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AEFE4B65-D988-8448-32BD-C074003AB2BB}"/>
              </a:ext>
            </a:extLst>
          </p:cNvPr>
          <p:cNvSpPr>
            <a:spLocks noGrp="1"/>
          </p:cNvSpPr>
          <p:nvPr>
            <p:ph type="dt" sz="half" idx="10"/>
          </p:nvPr>
        </p:nvSpPr>
        <p:spPr>
          <a:xfrm>
            <a:off x="838200" y="6356350"/>
            <a:ext cx="2743200" cy="365125"/>
          </a:xfrm>
        </p:spPr>
        <p:txBody>
          <a:bodyPr>
            <a:normAutofit/>
          </a:bodyPr>
          <a:lstStyle/>
          <a:p>
            <a:pPr>
              <a:spcAft>
                <a:spcPts val="600"/>
              </a:spcAft>
            </a:pPr>
            <a:fld id="{20D15516-589F-487D-BF51-9635DCEA90D5}" type="datetime1">
              <a:rPr lang="en-US" smtClean="0"/>
              <a:pPr>
                <a:spcAft>
                  <a:spcPts val="600"/>
                </a:spcAft>
              </a:pPr>
              <a:t>9/22/25</a:t>
            </a:fld>
            <a:endParaRPr lang="en-US"/>
          </a:p>
        </p:txBody>
      </p:sp>
      <p:sp>
        <p:nvSpPr>
          <p:cNvPr id="4" name="Footer Placeholder 3">
            <a:extLst>
              <a:ext uri="{FF2B5EF4-FFF2-40B4-BE49-F238E27FC236}">
                <a16:creationId xmlns:a16="http://schemas.microsoft.com/office/drawing/2014/main" id="{7AC6BAD7-51F4-263A-146E-8497A5E344A9}"/>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dirty="0"/>
              <a:t>Footer Text</a:t>
            </a:r>
            <a:endParaRPr lang="en-US"/>
          </a:p>
        </p:txBody>
      </p:sp>
      <p:sp>
        <p:nvSpPr>
          <p:cNvPr id="6" name="Slide Number Placeholder 5">
            <a:extLst>
              <a:ext uri="{FF2B5EF4-FFF2-40B4-BE49-F238E27FC236}">
                <a16:creationId xmlns:a16="http://schemas.microsoft.com/office/drawing/2014/main" id="{F58889F9-DD26-24AD-40C5-31CE4E6AAA69}"/>
              </a:ext>
            </a:extLst>
          </p:cNvPr>
          <p:cNvSpPr>
            <a:spLocks noGrp="1"/>
          </p:cNvSpPr>
          <p:nvPr>
            <p:ph type="sldNum" sz="quarter" idx="12"/>
          </p:nvPr>
        </p:nvSpPr>
        <p:spPr>
          <a:xfrm>
            <a:off x="8610600" y="6356350"/>
            <a:ext cx="2743200" cy="365125"/>
          </a:xfrm>
        </p:spPr>
        <p:txBody>
          <a:bodyPr>
            <a:normAutofit/>
          </a:bodyPr>
          <a:lstStyle/>
          <a:p>
            <a:pPr>
              <a:spcAft>
                <a:spcPts val="600"/>
              </a:spcAft>
            </a:pPr>
            <a:fld id="{753D0FD4-819D-4187-8797-C35567B41C78}" type="slidenum">
              <a:rPr lang="en-US" smtClean="0"/>
              <a:pPr>
                <a:spcAft>
                  <a:spcPts val="600"/>
                </a:spcAft>
              </a:pPr>
              <a:t>15</a:t>
            </a:fld>
            <a:endParaRPr lang="en-US"/>
          </a:p>
        </p:txBody>
      </p:sp>
      <p:graphicFrame>
        <p:nvGraphicFramePr>
          <p:cNvPr id="7" name="Content Placeholder 6">
            <a:extLst>
              <a:ext uri="{FF2B5EF4-FFF2-40B4-BE49-F238E27FC236}">
                <a16:creationId xmlns:a16="http://schemas.microsoft.com/office/drawing/2014/main" id="{A2D6CF1E-538D-44A2-8DEE-78448C77B020}"/>
              </a:ext>
            </a:extLst>
          </p:cNvPr>
          <p:cNvGraphicFramePr>
            <a:graphicFrameLocks noGrp="1"/>
          </p:cNvGraphicFramePr>
          <p:nvPr>
            <p:ph idx="1"/>
            <p:extLst>
              <p:ext uri="{D42A27DB-BD31-4B8C-83A1-F6EECF244321}">
                <p14:modId xmlns:p14="http://schemas.microsoft.com/office/powerpoint/2010/main" val="3292640526"/>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72493" y="2071316"/>
          <a:ext cx="6713552" cy="41191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3622058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7B7BAD-1BC0-2B60-2FF4-D4DC7B03A1DE}"/>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4600"/>
              <a:t>🧩 NumPy Challenge: Budget Allocation with Broadcasting</a:t>
            </a:r>
          </a:p>
        </p:txBody>
      </p:sp>
      <p:sp>
        <p:nvSpPr>
          <p:cNvPr id="1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B7BA2C7B-2154-87E7-F1C6-678B6988FFD6}"/>
              </a:ext>
            </a:extLst>
          </p:cNvPr>
          <p:cNvSpPr>
            <a:spLocks noGrp="1"/>
          </p:cNvSpPr>
          <p:nvPr>
            <p:ph idx="1"/>
          </p:nvPr>
        </p:nvSpPr>
        <p:spPr>
          <a:xfrm>
            <a:off x="572493" y="2071316"/>
            <a:ext cx="6713552" cy="4119172"/>
          </a:xfrm>
        </p:spPr>
        <p:txBody>
          <a:bodyPr vert="horz" lIns="91440" tIns="45720" rIns="91440" bIns="45720" rtlCol="0" anchor="t">
            <a:normAutofit/>
          </a:bodyPr>
          <a:lstStyle/>
          <a:p>
            <a:r>
              <a:rPr lang="en-US" sz="2200"/>
              <a:t>Manage budgets for 3 departments across 4 quarters with multipliers.</a:t>
            </a:r>
          </a:p>
          <a:p>
            <a:r>
              <a:rPr lang="en-US" sz="2200"/>
              <a:t>Use broadcasting to adjust budgets by department multipliers efficiently.</a:t>
            </a:r>
          </a:p>
          <a:p>
            <a:r>
              <a:rPr lang="en-US" sz="2200"/>
              <a:t>Add a fixed bonus of $100 to each department's budget values.</a:t>
            </a:r>
          </a:p>
          <a:p>
            <a:r>
              <a:rPr lang="en-US" sz="2200"/>
              <a:t>Divide adjusted budgets by 12 to calculate monthly allocations.</a:t>
            </a:r>
          </a:p>
        </p:txBody>
      </p:sp>
      <p:pic>
        <p:nvPicPr>
          <p:cNvPr id="8" name="Content Placeholder 7" descr="Spreadsheet and calculator">
            <a:extLst>
              <a:ext uri="{FF2B5EF4-FFF2-40B4-BE49-F238E27FC236}">
                <a16:creationId xmlns:a16="http://schemas.microsoft.com/office/drawing/2014/main" id="{FEC8323B-8102-409B-9447-410922297D23}"/>
              </a:ext>
            </a:extLst>
          </p:cNvPr>
          <p:cNvPicPr>
            <a:picLocks noGrp="1" noChangeAspect="1"/>
          </p:cNvPicPr>
          <p:nvPr>
            <p:ph type="pic" sz="quarter" idx="13"/>
          </p:nvPr>
        </p:nvPicPr>
        <p:blipFill>
          <a:blip r:embed="rId3"/>
          <a:srcRect l="24999" r="10785" b="2"/>
          <a:stretch>
            <a:fillRect/>
          </a:stretch>
        </p:blipFill>
        <p:spPr>
          <a:xfrm>
            <a:off x="7675658" y="2093976"/>
            <a:ext cx="3941064" cy="4096512"/>
          </a:xfrm>
          <a:prstGeom prst="rect">
            <a:avLst/>
          </a:prstGeom>
          <a:noFill/>
        </p:spPr>
      </p:pic>
      <p:sp>
        <p:nvSpPr>
          <p:cNvPr id="4" name="Date Placeholder 3">
            <a:extLst>
              <a:ext uri="{FF2B5EF4-FFF2-40B4-BE49-F238E27FC236}">
                <a16:creationId xmlns:a16="http://schemas.microsoft.com/office/drawing/2014/main" id="{0BF563E2-B5C0-2034-E794-78837972BF3F}"/>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defRPr/>
            </a:pPr>
            <a:fld id="{9EAD527F-9C49-4481-A18C-80BA2EA99E79}" type="datetime1">
              <a:rPr lang="en-US" smtClean="0">
                <a:solidFill>
                  <a:prstClr val="black">
                    <a:tint val="75000"/>
                  </a:prstClr>
                </a:solidFill>
                <a:latin typeface="Calibri" panose="020F0502020204030204"/>
              </a:rPr>
              <a:pPr>
                <a:spcAft>
                  <a:spcPts val="600"/>
                </a:spcAft>
                <a:defRPr/>
              </a:pPr>
              <a:t>9/22/25</a:t>
            </a:fld>
            <a:endParaRPr lang="en-US">
              <a:solidFill>
                <a:prstClr val="black">
                  <a:tint val="75000"/>
                </a:prstClr>
              </a:solidFill>
              <a:latin typeface="Calibri" panose="020F0502020204030204"/>
            </a:endParaRPr>
          </a:p>
        </p:txBody>
      </p:sp>
      <p:sp>
        <p:nvSpPr>
          <p:cNvPr id="3" name="Footer Placeholder 2">
            <a:extLst>
              <a:ext uri="{FF2B5EF4-FFF2-40B4-BE49-F238E27FC236}">
                <a16:creationId xmlns:a16="http://schemas.microsoft.com/office/drawing/2014/main" id="{1D1EDF19-2F8A-7E63-879A-BA8B0277A2EA}"/>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prstClr val="black">
                    <a:tint val="75000"/>
                  </a:prstClr>
                </a:solidFill>
                <a:latin typeface="Calibri" panose="020F0502020204030204"/>
                <a:ea typeface="+mn-ea"/>
                <a:cs typeface="+mn-cs"/>
              </a:rPr>
              <a:t>Footer Text</a:t>
            </a:r>
          </a:p>
        </p:txBody>
      </p:sp>
      <p:sp>
        <p:nvSpPr>
          <p:cNvPr id="5" name="Slide Number Placeholder 4">
            <a:extLst>
              <a:ext uri="{FF2B5EF4-FFF2-40B4-BE49-F238E27FC236}">
                <a16:creationId xmlns:a16="http://schemas.microsoft.com/office/drawing/2014/main" id="{34D85CDB-F330-87C5-E240-3F59F038575A}"/>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753D0FD4-819D-4187-8797-C35567B41C78}" type="slidenum">
              <a:rPr lang="en-US" smtClean="0">
                <a:solidFill>
                  <a:prstClr val="black">
                    <a:tint val="75000"/>
                  </a:prstClr>
                </a:solidFill>
                <a:latin typeface="Calibri" panose="020F0502020204030204"/>
              </a:rPr>
              <a:pPr>
                <a:spcAft>
                  <a:spcPts val="600"/>
                </a:spcAft>
                <a:defRPr/>
              </a:pPr>
              <a:t>16</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3626830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Placeholder 7" descr="DNA code on large LED screen">
            <a:extLst>
              <a:ext uri="{FF2B5EF4-FFF2-40B4-BE49-F238E27FC236}">
                <a16:creationId xmlns:a16="http://schemas.microsoft.com/office/drawing/2014/main" id="{4FC46B91-FAF4-FF98-C24D-14A6A236602D}"/>
              </a:ext>
            </a:extLst>
          </p:cNvPr>
          <p:cNvPicPr>
            <a:picLocks noChangeAspect="1"/>
          </p:cNvPicPr>
          <p:nvPr/>
        </p:nvPicPr>
        <p:blipFill>
          <a:blip r:embed="rId3"/>
          <a:srcRect r="23298" b="9091"/>
          <a:stretch>
            <a:fillRect/>
          </a:stretch>
        </p:blipFill>
        <p:spPr>
          <a:xfrm>
            <a:off x="3523488" y="10"/>
            <a:ext cx="8668512" cy="6857990"/>
          </a:xfrm>
          <a:prstGeom prst="rect">
            <a:avLst/>
          </a:prstGeom>
          <a:noFill/>
        </p:spPr>
      </p:pic>
      <p:sp>
        <p:nvSpPr>
          <p:cNvPr id="14" name="Rectangle 13">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D2E1170-A8AF-46B5-B648-94C324A8FFFE}"/>
              </a:ext>
            </a:extLst>
          </p:cNvPr>
          <p:cNvSpPr>
            <a:spLocks noGrp="1"/>
          </p:cNvSpPr>
          <p:nvPr>
            <p:ph type="title"/>
          </p:nvPr>
        </p:nvSpPr>
        <p:spPr>
          <a:xfrm>
            <a:off x="477981" y="1122363"/>
            <a:ext cx="4023360" cy="3204134"/>
          </a:xfrm>
        </p:spPr>
        <p:txBody>
          <a:bodyPr vert="horz" lIns="91440" tIns="45720" rIns="91440" bIns="45720" rtlCol="0" anchor="b">
            <a:normAutofit/>
          </a:bodyPr>
          <a:lstStyle/>
          <a:p>
            <a:pPr>
              <a:lnSpc>
                <a:spcPct val="90000"/>
              </a:lnSpc>
            </a:pPr>
            <a:r>
              <a:rPr lang="en-US" sz="4800">
                <a:solidFill>
                  <a:schemeClr val="tx1"/>
                </a:solidFill>
              </a:rPr>
              <a:t>Filtering and Masking</a:t>
            </a:r>
          </a:p>
        </p:txBody>
      </p:sp>
      <p:sp>
        <p:nvSpPr>
          <p:cNvPr id="16" name="Rectangle 15">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Date Placeholder 5">
            <a:extLst>
              <a:ext uri="{FF2B5EF4-FFF2-40B4-BE49-F238E27FC236}">
                <a16:creationId xmlns:a16="http://schemas.microsoft.com/office/drawing/2014/main" id="{3942AF6A-B4CC-D6FF-BA8B-941A37AB38E5}"/>
              </a:ext>
            </a:extLst>
          </p:cNvPr>
          <p:cNvSpPr>
            <a:spLocks noGrp="1"/>
          </p:cNvSpPr>
          <p:nvPr>
            <p:ph type="dt" sz="half" idx="10"/>
          </p:nvPr>
        </p:nvSpPr>
        <p:spPr>
          <a:xfrm>
            <a:off x="477981" y="6356350"/>
            <a:ext cx="1214339" cy="365125"/>
          </a:xfrm>
        </p:spPr>
        <p:txBody>
          <a:bodyPr vert="horz" lIns="91440" tIns="45720" rIns="91440" bIns="45720" rtlCol="0" anchor="ctr">
            <a:normAutofit/>
          </a:bodyPr>
          <a:lstStyle/>
          <a:p>
            <a:pPr>
              <a:spcAft>
                <a:spcPts val="600"/>
              </a:spcAft>
              <a:defRPr/>
            </a:pPr>
            <a:fld id="{BBB8170F-0370-4A38-8BF3-83D69476AE62}" type="datetime1">
              <a:rPr lang="en-US">
                <a:solidFill>
                  <a:schemeClr val="tx1">
                    <a:lumMod val="50000"/>
                    <a:lumOff val="50000"/>
                  </a:schemeClr>
                </a:solidFill>
                <a:latin typeface="Calibri" panose="020F0502020204030204"/>
              </a:rPr>
              <a:pPr>
                <a:spcAft>
                  <a:spcPts val="600"/>
                </a:spcAft>
                <a:defRPr/>
              </a:pPr>
              <a:t>9/22/25</a:t>
            </a:fld>
            <a:endParaRPr lang="en-US">
              <a:solidFill>
                <a:schemeClr val="tx1">
                  <a:lumMod val="50000"/>
                  <a:lumOff val="50000"/>
                </a:schemeClr>
              </a:solidFill>
              <a:latin typeface="Calibri" panose="020F0502020204030204"/>
            </a:endParaRPr>
          </a:p>
        </p:txBody>
      </p:sp>
      <p:sp>
        <p:nvSpPr>
          <p:cNvPr id="4" name="Footer Placeholder 3">
            <a:extLst>
              <a:ext uri="{FF2B5EF4-FFF2-40B4-BE49-F238E27FC236}">
                <a16:creationId xmlns:a16="http://schemas.microsoft.com/office/drawing/2014/main" id="{E64BD104-DF2F-7E3D-DAB5-31B814BFD3AC}"/>
              </a:ext>
            </a:extLst>
          </p:cNvPr>
          <p:cNvSpPr>
            <a:spLocks noGrp="1"/>
          </p:cNvSpPr>
          <p:nvPr>
            <p:ph type="ftr" sz="quarter" idx="11"/>
          </p:nvPr>
        </p:nvSpPr>
        <p:spPr>
          <a:xfrm>
            <a:off x="1692321" y="6356350"/>
            <a:ext cx="2809017" cy="365125"/>
          </a:xfrm>
        </p:spPr>
        <p:txBody>
          <a:bodyPr vert="horz" lIns="91440" tIns="45720" rIns="91440" bIns="45720" rtlCol="0" anchor="ctr">
            <a:normAutofit/>
          </a:bodyPr>
          <a:lstStyle/>
          <a:p>
            <a:pPr algn="r">
              <a:spcAft>
                <a:spcPts val="600"/>
              </a:spcAft>
              <a:defRPr/>
            </a:pPr>
            <a:r>
              <a:rPr lang="en-US" kern="1200">
                <a:solidFill>
                  <a:schemeClr val="tx1">
                    <a:lumMod val="50000"/>
                    <a:lumOff val="50000"/>
                  </a:schemeClr>
                </a:solidFill>
                <a:latin typeface="Calibri" panose="020F0502020204030204"/>
                <a:ea typeface="+mn-ea"/>
                <a:cs typeface="+mn-cs"/>
              </a:rPr>
              <a:t>Footer Text</a:t>
            </a:r>
          </a:p>
        </p:txBody>
      </p:sp>
      <p:sp>
        <p:nvSpPr>
          <p:cNvPr id="7" name="Slide Number Placeholder 6">
            <a:extLst>
              <a:ext uri="{FF2B5EF4-FFF2-40B4-BE49-F238E27FC236}">
                <a16:creationId xmlns:a16="http://schemas.microsoft.com/office/drawing/2014/main" id="{E5EDFB82-1511-45A2-F53C-CA25250DE760}"/>
              </a:ext>
            </a:extLst>
          </p:cNvPr>
          <p:cNvSpPr>
            <a:spLocks noGrp="1"/>
          </p:cNvSpPr>
          <p:nvPr>
            <p:ph type="sldNum" sz="quarter" idx="12"/>
          </p:nvPr>
        </p:nvSpPr>
        <p:spPr>
          <a:xfrm>
            <a:off x="8970819" y="6356350"/>
            <a:ext cx="2743200" cy="365125"/>
          </a:xfrm>
        </p:spPr>
        <p:txBody>
          <a:bodyPr vert="horz" lIns="91440" tIns="45720" rIns="91440" bIns="45720" rtlCol="0" anchor="ctr">
            <a:normAutofit/>
          </a:bodyPr>
          <a:lstStyle/>
          <a:p>
            <a:pPr>
              <a:spcAft>
                <a:spcPts val="600"/>
              </a:spcAft>
              <a:defRPr/>
            </a:pPr>
            <a:fld id="{753D0FD4-819D-4187-8797-C35567B41C78}" type="slidenum">
              <a:rPr lang="en-US">
                <a:solidFill>
                  <a:schemeClr val="bg1"/>
                </a:solidFill>
                <a:latin typeface="Calibri" panose="020F0502020204030204"/>
              </a:rPr>
              <a:pPr>
                <a:spcAft>
                  <a:spcPts val="600"/>
                </a:spcAft>
                <a:defRPr/>
              </a:pPr>
              <a:t>17</a:t>
            </a:fld>
            <a:endParaRPr lang="en-US">
              <a:solidFill>
                <a:schemeClr val="bg1"/>
              </a:solidFill>
              <a:latin typeface="Calibri" panose="020F0502020204030204"/>
            </a:endParaRPr>
          </a:p>
        </p:txBody>
      </p:sp>
    </p:spTree>
    <p:extLst>
      <p:ext uri="{BB962C8B-B14F-4D97-AF65-F5344CB8AC3E}">
        <p14:creationId xmlns:p14="http://schemas.microsoft.com/office/powerpoint/2010/main" val="3609960597"/>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F040EB-D5A7-EE93-08D3-5301058165B1}"/>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5400"/>
              <a:t>Boolean Indexing</a:t>
            </a:r>
          </a:p>
        </p:txBody>
      </p:sp>
      <p:sp>
        <p:nvSpPr>
          <p:cNvPr id="1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E5C93381-7828-E1A6-8753-AA08A528BFE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2493" y="2071316"/>
            <a:ext cx="6713552" cy="4119172"/>
          </a:xfrm>
        </p:spPr>
        <p:txBody>
          <a:bodyPr>
            <a:normAutofit/>
          </a:bodyPr>
          <a:lstStyle/>
          <a:p>
            <a:pPr marL="0" indent="0">
              <a:spcBef>
                <a:spcPts val="2500"/>
              </a:spcBef>
              <a:buFont typeface="Arial" panose="020B0604020202020204" pitchFamily="34" charset="0"/>
              <a:buNone/>
            </a:pPr>
            <a:r>
              <a:rPr lang="en-US" sz="1400" b="1"/>
              <a:t>Selecting Elements by Condition</a:t>
            </a:r>
          </a:p>
          <a:p>
            <a:pPr marL="0" lvl="1" indent="0">
              <a:buFont typeface="Arial" panose="020B0604020202020204" pitchFamily="34" charset="0"/>
              <a:buNone/>
            </a:pPr>
            <a:r>
              <a:rPr lang="en-US" sz="1400"/>
              <a:t>Boolean indexing selects array elements that satisfy specific conditions, enabling targeted data retrieval.</a:t>
            </a:r>
          </a:p>
          <a:p>
            <a:pPr marL="0" indent="0">
              <a:spcBef>
                <a:spcPts val="2500"/>
              </a:spcBef>
              <a:buFont typeface="Arial" panose="020B0604020202020204" pitchFamily="34" charset="0"/>
              <a:buNone/>
            </a:pPr>
            <a:r>
              <a:rPr lang="en-US" sz="1400" b="1"/>
              <a:t>Combining Conditions</a:t>
            </a:r>
          </a:p>
          <a:p>
            <a:pPr marL="0" lvl="1" indent="0">
              <a:buFont typeface="Arial" panose="020B0604020202020204" pitchFamily="34" charset="0"/>
              <a:buNone/>
            </a:pPr>
            <a:r>
              <a:rPr lang="en-US" sz="1400"/>
              <a:t>Logical operators allow combining multiple conditions to create complex and precise filters for data selection.</a:t>
            </a:r>
          </a:p>
          <a:p>
            <a:pPr marL="0" indent="0">
              <a:spcBef>
                <a:spcPts val="2500"/>
              </a:spcBef>
              <a:buFont typeface="Arial" panose="020B0604020202020204" pitchFamily="34" charset="0"/>
              <a:buNone/>
            </a:pPr>
            <a:r>
              <a:rPr lang="en-US" sz="1400" b="1"/>
              <a:t>Applications in Data Analysis</a:t>
            </a:r>
          </a:p>
          <a:p>
            <a:pPr marL="0" lvl="1" indent="0">
              <a:buFont typeface="Arial" panose="020B0604020202020204" pitchFamily="34" charset="0"/>
              <a:buNone/>
            </a:pPr>
            <a:r>
              <a:rPr lang="en-US" sz="1400"/>
              <a:t>Boolean indexing is widely used for data preprocessing and analysis to efficiently filter and manipulate datasets.</a:t>
            </a:r>
          </a:p>
        </p:txBody>
      </p:sp>
      <p:pic>
        <p:nvPicPr>
          <p:cNvPr id="8" name="Content Placeholder 7" descr="Global communication and collaboration intricately involving electronic ropes and keys through social networking of smart phones equipped with AI.">
            <a:extLst>
              <a:ext uri="{FF2B5EF4-FFF2-40B4-BE49-F238E27FC236}">
                <a16:creationId xmlns:a16="http://schemas.microsoft.com/office/drawing/2014/main" id="{34601343-F6C4-4385-89E8-D173F682071C}"/>
              </a:ext>
            </a:extLst>
          </p:cNvPr>
          <p:cNvPicPr>
            <a:picLocks noGrp="1" noChangeAspect="1"/>
          </p:cNvPicPr>
          <p:nvPr>
            <p:ph type="pic" sz="quarter" idx="13"/>
          </p:nvPr>
        </p:nvPicPr>
        <p:blipFill>
          <a:blip r:embed="rId3"/>
          <a:srcRect l="20819" r="14965" b="2"/>
          <a:stretch>
            <a:fillRect/>
          </a:stretch>
        </p:blipFill>
        <p:spPr>
          <a:xfrm>
            <a:off x="7675658" y="2093976"/>
            <a:ext cx="3941064" cy="4096512"/>
          </a:xfrm>
          <a:prstGeom prst="rect">
            <a:avLst/>
          </a:prstGeom>
          <a:noFill/>
        </p:spPr>
      </p:pic>
      <p:sp>
        <p:nvSpPr>
          <p:cNvPr id="4" name="Date Placeholder 3">
            <a:extLst>
              <a:ext uri="{FF2B5EF4-FFF2-40B4-BE49-F238E27FC236}">
                <a16:creationId xmlns:a16="http://schemas.microsoft.com/office/drawing/2014/main" id="{8C51C839-7EDF-5F82-5616-8E37D19A7914}"/>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defRPr/>
            </a:pPr>
            <a:fld id="{9EAD527F-9C49-4481-A18C-80BA2EA99E79}" type="datetime1">
              <a:rPr lang="en-US" smtClean="0">
                <a:solidFill>
                  <a:prstClr val="black">
                    <a:tint val="75000"/>
                  </a:prstClr>
                </a:solidFill>
                <a:latin typeface="Calibri" panose="020F0502020204030204"/>
              </a:rPr>
              <a:pPr>
                <a:spcAft>
                  <a:spcPts val="600"/>
                </a:spcAft>
                <a:defRPr/>
              </a:pPr>
              <a:t>9/22/25</a:t>
            </a:fld>
            <a:endParaRPr lang="en-US">
              <a:solidFill>
                <a:prstClr val="black">
                  <a:tint val="75000"/>
                </a:prstClr>
              </a:solidFill>
              <a:latin typeface="Calibri" panose="020F0502020204030204"/>
            </a:endParaRPr>
          </a:p>
        </p:txBody>
      </p:sp>
      <p:sp>
        <p:nvSpPr>
          <p:cNvPr id="3" name="Footer Placeholder 2">
            <a:extLst>
              <a:ext uri="{FF2B5EF4-FFF2-40B4-BE49-F238E27FC236}">
                <a16:creationId xmlns:a16="http://schemas.microsoft.com/office/drawing/2014/main" id="{71D8E295-C068-D5EA-B48C-CD0BA992230F}"/>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prstClr val="black">
                    <a:tint val="75000"/>
                  </a:prstClr>
                </a:solidFill>
                <a:latin typeface="Calibri" panose="020F0502020204030204"/>
                <a:ea typeface="+mn-ea"/>
                <a:cs typeface="+mn-cs"/>
              </a:rPr>
              <a:t>Footer Text</a:t>
            </a:r>
          </a:p>
        </p:txBody>
      </p:sp>
      <p:sp>
        <p:nvSpPr>
          <p:cNvPr id="5" name="Slide Number Placeholder 4">
            <a:extLst>
              <a:ext uri="{FF2B5EF4-FFF2-40B4-BE49-F238E27FC236}">
                <a16:creationId xmlns:a16="http://schemas.microsoft.com/office/drawing/2014/main" id="{4AA6C13A-D5F2-8102-651B-997B05E7DBF6}"/>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753D0FD4-819D-4187-8797-C35567B41C78}" type="slidenum">
              <a:rPr lang="en-US" smtClean="0">
                <a:solidFill>
                  <a:prstClr val="black">
                    <a:tint val="75000"/>
                  </a:prstClr>
                </a:solidFill>
                <a:latin typeface="Calibri" panose="020F0502020204030204"/>
              </a:rPr>
              <a:pPr>
                <a:spcAft>
                  <a:spcPts val="600"/>
                </a:spcAft>
                <a:defRPr/>
              </a:pPr>
              <a:t>18</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21299574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7A4DBB-A4F7-116A-25B4-F6FC1AE778A0}"/>
              </a:ext>
            </a:extLst>
          </p:cNvPr>
          <p:cNvSpPr>
            <a:spLocks noGrp="1"/>
          </p:cNvSpPr>
          <p:nvPr>
            <p:ph type="title"/>
          </p:nvPr>
        </p:nvSpPr>
        <p:spPr>
          <a:xfrm>
            <a:off x="572493" y="238539"/>
            <a:ext cx="11018520" cy="1434415"/>
          </a:xfrm>
        </p:spPr>
        <p:txBody>
          <a:bodyPr anchor="b">
            <a:normAutofit/>
          </a:bodyPr>
          <a:lstStyle/>
          <a:p>
            <a:r>
              <a:rPr lang="en-US" sz="5400"/>
              <a:t>Masking and Filtering</a:t>
            </a:r>
          </a:p>
        </p:txBody>
      </p:sp>
      <p:sp>
        <p:nvSpPr>
          <p:cNvPr id="1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6E4B1EF2-3835-D60D-15E3-C3CC2545548D}"/>
              </a:ext>
            </a:extLst>
          </p:cNvPr>
          <p:cNvSpPr>
            <a:spLocks noGrp="1"/>
          </p:cNvSpPr>
          <p:nvPr>
            <p:ph type="dt" sz="half" idx="10"/>
          </p:nvPr>
        </p:nvSpPr>
        <p:spPr>
          <a:xfrm>
            <a:off x="838200" y="6356350"/>
            <a:ext cx="2743200" cy="365125"/>
          </a:xfrm>
        </p:spPr>
        <p:txBody>
          <a:bodyPr>
            <a:normAutofit/>
          </a:bodyPr>
          <a:lstStyle/>
          <a:p>
            <a:pPr>
              <a:spcAft>
                <a:spcPts val="600"/>
              </a:spcAft>
            </a:pPr>
            <a:fld id="{20D15516-589F-487D-BF51-9635DCEA90D5}" type="datetime1">
              <a:rPr lang="en-US" smtClean="0"/>
              <a:pPr>
                <a:spcAft>
                  <a:spcPts val="600"/>
                </a:spcAft>
              </a:pPr>
              <a:t>9/22/25</a:t>
            </a:fld>
            <a:endParaRPr lang="en-US"/>
          </a:p>
        </p:txBody>
      </p:sp>
      <p:sp>
        <p:nvSpPr>
          <p:cNvPr id="4" name="Footer Placeholder 3">
            <a:extLst>
              <a:ext uri="{FF2B5EF4-FFF2-40B4-BE49-F238E27FC236}">
                <a16:creationId xmlns:a16="http://schemas.microsoft.com/office/drawing/2014/main" id="{8338D45B-3401-6852-7DC6-0AFE48EF0902}"/>
              </a:ext>
            </a:extLst>
          </p:cNvPr>
          <p:cNvSpPr>
            <a:spLocks noGrp="1"/>
          </p:cNvSpPr>
          <p:nvPr>
            <p:ph type="ftr" sz="quarter" idx="11"/>
          </p:nvPr>
        </p:nvSpPr>
        <p:spPr>
          <a:xfrm>
            <a:off x="4038600" y="6356350"/>
            <a:ext cx="4114800" cy="365125"/>
          </a:xfrm>
        </p:spPr>
        <p:txBody>
          <a:bodyPr>
            <a:normAutofit/>
          </a:bodyPr>
          <a:lstStyle/>
          <a:p>
            <a:pPr>
              <a:spcAft>
                <a:spcPts val="600"/>
              </a:spcAft>
            </a:pPr>
            <a:r>
              <a:rPr lang="en-US" dirty="0"/>
              <a:t>Footer Text</a:t>
            </a:r>
            <a:endParaRPr lang="en-US"/>
          </a:p>
        </p:txBody>
      </p:sp>
      <p:sp>
        <p:nvSpPr>
          <p:cNvPr id="6" name="Slide Number Placeholder 5">
            <a:extLst>
              <a:ext uri="{FF2B5EF4-FFF2-40B4-BE49-F238E27FC236}">
                <a16:creationId xmlns:a16="http://schemas.microsoft.com/office/drawing/2014/main" id="{6220738D-A693-2A7C-5204-A2BFB5C6228E}"/>
              </a:ext>
            </a:extLst>
          </p:cNvPr>
          <p:cNvSpPr>
            <a:spLocks noGrp="1"/>
          </p:cNvSpPr>
          <p:nvPr>
            <p:ph type="sldNum" sz="quarter" idx="12"/>
          </p:nvPr>
        </p:nvSpPr>
        <p:spPr>
          <a:xfrm>
            <a:off x="8610600" y="6356350"/>
            <a:ext cx="2743200" cy="365125"/>
          </a:xfrm>
        </p:spPr>
        <p:txBody>
          <a:bodyPr>
            <a:normAutofit/>
          </a:bodyPr>
          <a:lstStyle/>
          <a:p>
            <a:pPr>
              <a:spcAft>
                <a:spcPts val="600"/>
              </a:spcAft>
            </a:pPr>
            <a:fld id="{753D0FD4-819D-4187-8797-C35567B41C78}" type="slidenum">
              <a:rPr lang="en-US" smtClean="0"/>
              <a:pPr>
                <a:spcAft>
                  <a:spcPts val="600"/>
                </a:spcAft>
              </a:pPr>
              <a:t>19</a:t>
            </a:fld>
            <a:endParaRPr lang="en-US"/>
          </a:p>
        </p:txBody>
      </p:sp>
      <p:graphicFrame>
        <p:nvGraphicFramePr>
          <p:cNvPr id="7" name="Content Placeholder 6">
            <a:extLst>
              <a:ext uri="{FF2B5EF4-FFF2-40B4-BE49-F238E27FC236}">
                <a16:creationId xmlns:a16="http://schemas.microsoft.com/office/drawing/2014/main" id="{21638ADD-5158-44F1-B8DD-50E61A15307D}"/>
              </a:ext>
            </a:extLst>
          </p:cNvPr>
          <p:cNvGraphicFramePr>
            <a:graphicFrameLocks noGrp="1"/>
          </p:cNvGraphicFramePr>
          <p:nvPr>
            <p:ph idx="1"/>
            <p:extLst>
              <p:ext uri="{D42A27DB-BD31-4B8C-83A1-F6EECF244321}">
                <p14:modId xmlns:p14="http://schemas.microsoft.com/office/powerpoint/2010/main" val="2677033873"/>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72493" y="2071316"/>
          <a:ext cx="6713552" cy="41191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57442422"/>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FE6436-B61C-820F-3BC9-D4B4A42F12F7}"/>
              </a:ext>
            </a:extLst>
          </p:cNvPr>
          <p:cNvSpPr>
            <a:spLocks noGrp="1"/>
          </p:cNvSpPr>
          <p:nvPr>
            <p:ph type="title"/>
          </p:nvPr>
        </p:nvSpPr>
        <p:spPr>
          <a:xfrm>
            <a:off x="572493" y="238539"/>
            <a:ext cx="11018520" cy="1434415"/>
          </a:xfrm>
        </p:spPr>
        <p:txBody>
          <a:bodyPr vert="horz" lIns="91440" tIns="45720" rIns="91440" bIns="45720" rtlCol="0" anchor="b">
            <a:normAutofit/>
          </a:bodyPr>
          <a:lstStyle/>
          <a:p>
            <a:r>
              <a:rPr lang="en-US" sz="4600"/>
              <a:t>🧩 NumPy Challenge: Analyzing Student Exam Scores</a:t>
            </a:r>
          </a:p>
        </p:txBody>
      </p:sp>
      <p:sp>
        <p:nvSpPr>
          <p:cNvPr id="1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91DD4317-55CB-06FB-DAEF-7A3364F46F97}"/>
              </a:ext>
            </a:extLst>
          </p:cNvPr>
          <p:cNvSpPr>
            <a:spLocks noGrp="1"/>
          </p:cNvSpPr>
          <p:nvPr>
            <p:ph idx="1"/>
          </p:nvPr>
        </p:nvSpPr>
        <p:spPr>
          <a:xfrm>
            <a:off x="572493" y="2071316"/>
            <a:ext cx="6713552" cy="4119172"/>
          </a:xfrm>
        </p:spPr>
        <p:txBody>
          <a:bodyPr vert="horz" lIns="91440" tIns="45720" rIns="91440" bIns="45720" rtlCol="0" anchor="t">
            <a:normAutofit/>
          </a:bodyPr>
          <a:lstStyle/>
          <a:p>
            <a:r>
              <a:rPr lang="en-US" sz="2200"/>
              <a:t>You have exam scores from two classes to analyze with NumPy.</a:t>
            </a:r>
          </a:p>
          <a:p>
            <a:r>
              <a:rPr lang="en-US" sz="2200"/>
              <a:t>Combine class A and B scores into a single array.</a:t>
            </a:r>
          </a:p>
          <a:p>
            <a:r>
              <a:rPr lang="en-US" sz="2200"/>
              <a:t>Reshape combined scores into a 2D array with each row per class.</a:t>
            </a:r>
          </a:p>
          <a:p>
            <a:r>
              <a:rPr lang="en-US" sz="2200"/>
              <a:t>Find scores greater than 90 using boolean indexing.</a:t>
            </a:r>
          </a:p>
          <a:p>
            <a:r>
              <a:rPr lang="en-US" sz="2200"/>
              <a:t>Increase all scores by 5% using broadcasting to simulate a curve.</a:t>
            </a:r>
          </a:p>
          <a:p>
            <a:r>
              <a:rPr lang="en-US" sz="2200"/>
              <a:t>Sort curved scores and calculate average score per class.</a:t>
            </a:r>
          </a:p>
        </p:txBody>
      </p:sp>
      <p:pic>
        <p:nvPicPr>
          <p:cNvPr id="8" name="Content Placeholder 7" descr="A hand holding a pen and shading circles on a sheet">
            <a:extLst>
              <a:ext uri="{FF2B5EF4-FFF2-40B4-BE49-F238E27FC236}">
                <a16:creationId xmlns:a16="http://schemas.microsoft.com/office/drawing/2014/main" id="{95D35620-B91F-421B-91CE-171DBE8680F9}"/>
              </a:ext>
            </a:extLst>
          </p:cNvPr>
          <p:cNvPicPr>
            <a:picLocks noGrp="1" noChangeAspect="1"/>
          </p:cNvPicPr>
          <p:nvPr>
            <p:ph type="pic" sz="quarter" idx="13"/>
          </p:nvPr>
        </p:nvPicPr>
        <p:blipFill>
          <a:blip r:embed="rId3"/>
          <a:srcRect l="29152" r="14810" b="2"/>
          <a:stretch>
            <a:fillRect/>
          </a:stretch>
        </p:blipFill>
        <p:spPr>
          <a:xfrm>
            <a:off x="7675658" y="2093976"/>
            <a:ext cx="3941064" cy="4096512"/>
          </a:xfrm>
          <a:prstGeom prst="rect">
            <a:avLst/>
          </a:prstGeom>
          <a:noFill/>
        </p:spPr>
      </p:pic>
      <p:sp>
        <p:nvSpPr>
          <p:cNvPr id="4" name="Date Placeholder 3">
            <a:extLst>
              <a:ext uri="{FF2B5EF4-FFF2-40B4-BE49-F238E27FC236}">
                <a16:creationId xmlns:a16="http://schemas.microsoft.com/office/drawing/2014/main" id="{6E21B85E-1942-E95A-9F45-6788EF0E2E67}"/>
              </a:ext>
            </a:extLst>
          </p:cNvPr>
          <p:cNvSpPr>
            <a:spLocks noGrp="1"/>
          </p:cNvSpPr>
          <p:nvPr>
            <p:ph type="dt" sz="half" idx="10"/>
          </p:nvPr>
        </p:nvSpPr>
        <p:spPr>
          <a:xfrm>
            <a:off x="838200" y="6356350"/>
            <a:ext cx="2743200" cy="365125"/>
          </a:xfrm>
        </p:spPr>
        <p:txBody>
          <a:bodyPr vert="horz" lIns="91440" tIns="45720" rIns="91440" bIns="45720" rtlCol="0" anchor="ctr">
            <a:normAutofit/>
          </a:bodyPr>
          <a:lstStyle/>
          <a:p>
            <a:pPr>
              <a:spcAft>
                <a:spcPts val="600"/>
              </a:spcAft>
              <a:defRPr/>
            </a:pPr>
            <a:fld id="{9EAD527F-9C49-4481-A18C-80BA2EA99E79}" type="datetime1">
              <a:rPr lang="en-US" smtClean="0">
                <a:solidFill>
                  <a:prstClr val="black">
                    <a:tint val="75000"/>
                  </a:prstClr>
                </a:solidFill>
                <a:latin typeface="Calibri" panose="020F0502020204030204"/>
              </a:rPr>
              <a:pPr>
                <a:spcAft>
                  <a:spcPts val="600"/>
                </a:spcAft>
                <a:defRPr/>
              </a:pPr>
              <a:t>9/22/25</a:t>
            </a:fld>
            <a:endParaRPr lang="en-US">
              <a:solidFill>
                <a:prstClr val="black">
                  <a:tint val="75000"/>
                </a:prstClr>
              </a:solidFill>
              <a:latin typeface="Calibri" panose="020F0502020204030204"/>
            </a:endParaRPr>
          </a:p>
        </p:txBody>
      </p:sp>
      <p:sp>
        <p:nvSpPr>
          <p:cNvPr id="3" name="Footer Placeholder 2">
            <a:extLst>
              <a:ext uri="{FF2B5EF4-FFF2-40B4-BE49-F238E27FC236}">
                <a16:creationId xmlns:a16="http://schemas.microsoft.com/office/drawing/2014/main" id="{C0CC4609-932F-95E4-1A80-BE943F6466C8}"/>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a:solidFill>
                  <a:prstClr val="black">
                    <a:tint val="75000"/>
                  </a:prstClr>
                </a:solidFill>
                <a:latin typeface="Calibri" panose="020F0502020204030204"/>
                <a:ea typeface="+mn-ea"/>
                <a:cs typeface="+mn-cs"/>
              </a:rPr>
              <a:t>Footer Text</a:t>
            </a:r>
          </a:p>
        </p:txBody>
      </p:sp>
      <p:sp>
        <p:nvSpPr>
          <p:cNvPr id="5" name="Slide Number Placeholder 4">
            <a:extLst>
              <a:ext uri="{FF2B5EF4-FFF2-40B4-BE49-F238E27FC236}">
                <a16:creationId xmlns:a16="http://schemas.microsoft.com/office/drawing/2014/main" id="{C3861848-FC4F-BD0D-4433-5081DC807B6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753D0FD4-819D-4187-8797-C35567B41C78}" type="slidenum">
              <a:rPr lang="en-US" smtClean="0">
                <a:solidFill>
                  <a:prstClr val="black">
                    <a:tint val="75000"/>
                  </a:prstClr>
                </a:solidFill>
                <a:latin typeface="Calibri" panose="020F0502020204030204"/>
              </a:rPr>
              <a:pPr>
                <a:spcAft>
                  <a:spcPts val="600"/>
                </a:spcAft>
                <a:defRPr/>
              </a:pPr>
              <a:t>20</a:t>
            </a:fld>
            <a:endParaRPr lang="en-US">
              <a:solidFill>
                <a:prstClr val="black">
                  <a:tint val="75000"/>
                </a:prstClr>
              </a:solidFill>
              <a:latin typeface="Calibri" panose="020F0502020204030204"/>
            </a:endParaRPr>
          </a:p>
        </p:txBody>
      </p:sp>
    </p:spTree>
    <p:extLst>
      <p:ext uri="{BB962C8B-B14F-4D97-AF65-F5344CB8AC3E}">
        <p14:creationId xmlns:p14="http://schemas.microsoft.com/office/powerpoint/2010/main" val="10801354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3E87D78-9CEC-4EE9-94B9-0F2EEEB8A065}">
  <ds:schemaRefs>
    <ds:schemaRef ds:uri="http://schemas.microsoft.com/sharepoint/v3/contenttype/forms"/>
  </ds:schemaRefs>
</ds:datastoreItem>
</file>

<file path=customXml/itemProps2.xml><?xml version="1.0" encoding="utf-8"?>
<ds:datastoreItem xmlns:ds="http://schemas.openxmlformats.org/officeDocument/2006/customXml" ds:itemID="{B0AEFF06-C01D-4782-9025-60F06DFEAF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846201E-DF07-4095-9F76-DD2E789400A7}">
  <ds:schemaRefs>
    <ds:schemaRef ds:uri="http://purl.org/dc/elements/1.1/"/>
    <ds:schemaRef ds:uri="http://www.w3.org/XML/1998/namespace"/>
    <ds:schemaRef ds:uri="71af3243-3dd4-4a8d-8c0d-dd76da1f02a5"/>
    <ds:schemaRef ds:uri="16c05727-aa75-4e4a-9b5f-8a80a1165891"/>
    <ds:schemaRef ds:uri="http://purl.org/dc/terms/"/>
    <ds:schemaRef ds:uri="http://schemas.microsoft.com/office/infopath/2007/PartnerControls"/>
    <ds:schemaRef ds:uri="http://schemas.openxmlformats.org/package/2006/metadata/core-properties"/>
    <ds:schemaRef ds:uri="http://schemas.microsoft.com/sharepoint/v3"/>
    <ds:schemaRef ds:uri="http://schemas.microsoft.com/office/2006/documentManagement/types"/>
    <ds:schemaRef ds:uri="230e9df3-be65-4c73-a93b-d1236ebd677e"/>
    <ds:schemaRef ds:uri="http://schemas.microsoft.com/office/2006/metadata/properties"/>
    <ds:schemaRef ds:uri="http://purl.org/dc/dcmitype/"/>
  </ds:schemaRefs>
</ds:datastoreItem>
</file>

<file path=docMetadata/LabelInfo.xml><?xml version="1.0" encoding="utf-8"?>
<clbl:labelList xmlns:clbl="http://schemas.microsoft.com/office/2020/mipLabelMetadata">
  <clbl:label id="{87ba5c36-b7cf-4793-bbc2-bd5b3a9f95ca}"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57</TotalTime>
  <Words>3163</Words>
  <Application>Microsoft Macintosh PowerPoint</Application>
  <PresentationFormat>Widescreen</PresentationFormat>
  <Paragraphs>226</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Calibri</vt:lpstr>
      <vt:lpstr>Office Theme</vt:lpstr>
      <vt:lpstr>NumPy: NumericaL PYTHON</vt:lpstr>
      <vt:lpstr>Overview of NumPy</vt:lpstr>
      <vt:lpstr>Getting Started with NumPy</vt:lpstr>
      <vt:lpstr>Importing NumPy</vt:lpstr>
      <vt:lpstr>Creating Arrays</vt:lpstr>
      <vt:lpstr>Array Attributes</vt:lpstr>
      <vt:lpstr>Manipulating Arrays</vt:lpstr>
      <vt:lpstr>Indexing and Slicing</vt:lpstr>
      <vt:lpstr>Views vs Copies</vt:lpstr>
      <vt:lpstr>Reshaping Arrays</vt:lpstr>
      <vt:lpstr>Advanced Array Operations</vt:lpstr>
      <vt:lpstr>Creating Arrays with Functions</vt:lpstr>
      <vt:lpstr>Advanced Array Problems</vt:lpstr>
      <vt:lpstr>🧩 NumPy Challenge : Organize Student Scores</vt:lpstr>
      <vt:lpstr>Broadcasting and Mathematical Operations</vt:lpstr>
      <vt:lpstr>🧩 NumPy Challenge: Budget Allocation with Broadcasting</vt:lpstr>
      <vt:lpstr>Filtering and Masking</vt:lpstr>
      <vt:lpstr>Boolean Indexing</vt:lpstr>
      <vt:lpstr>Masking and Filtering</vt:lpstr>
      <vt:lpstr>🧩 NumPy Challenge: Analyzing Student Exam Scores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Niyna Spellman</dc:creator>
  <cp:lastModifiedBy>Anuradha Sharma</cp:lastModifiedBy>
  <cp:revision>104</cp:revision>
  <dcterms:created xsi:type="dcterms:W3CDTF">2025-08-04T19:41:08Z</dcterms:created>
  <dcterms:modified xsi:type="dcterms:W3CDTF">2025-09-23T02:21:00Z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